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giây</c:v>
                </c:pt>
              </c:strCache>
            </c:strRef>
          </c:tx>
          <c:spPr>
            <a:solidFill>
              <a:srgbClr val="2E7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Research medium · 331 s</c:v>
                  </c:pt>
                  <c:pt idx="1">
                    <c:v>Research low · 79 s</c:v>
                  </c:pt>
                  <c:pt idx="2">
                    <c:v>Triage local, 11 mail · 62,6 s</c:v>
                  </c:pt>
                  <c:pt idx="3">
                    <c:v>Re-scan cùng mail · 6,0 s</c:v>
                  </c:pt>
                  <c:pt idx="4">
                    <c:v>Cache hit · 0,76 s</c:v>
                  </c:pt>
                </c:lvl>
              </c:multiLvlStrCache>
            </c:multiLvlStrRef>
          </c:cat>
          <c:val>
            <c:numRef>
              <c:f>Sheet1!$B$2:$B$6</c:f>
              <c:numCache>
                <c:formatCode>General</c:formatCode>
                <c:ptCount val="5"/>
                <c:pt idx="0">
                  <c:v>331</c:v>
                </c:pt>
                <c:pt idx="1">
                  <c:v>79</c:v>
                </c:pt>
                <c:pt idx="2">
                  <c:v>62.6</c:v>
                </c:pt>
                <c:pt idx="3">
                  <c:v>6</c:v>
                </c:pt>
                <c:pt idx="4">
                  <c:v>0.76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C4C60"/>
                </a:solidFill>
                <a:latin typeface="Calibri"/>
              </a:defRPr>
            </a:pPr>
            <a:endParaRPr lang="en-US"/>
          </a:p>
        </c:txPr>
        <c:crossAx val="2094734552"/>
        <c:crosses val="autoZero"/>
        <c:auto val="1"/>
        <c:lblAlgn val="ctr"/>
        <c:noMultiLvlLbl val="1"/>
      </c:catAx>
      <c:valAx>
        <c:axId val="2094734552"/>
        <c:scaling>
          <c:logBase val="10"/>
          <c:orientation val="minMax"/>
        </c:scaling>
        <c:delete val="0"/>
        <c:axPos val="b"/>
        <c:majorGridlines>
          <c:spPr>
            <a:ln w="12700" cap="flat">
              <a:solidFill>
                <a:srgbClr val="E4EA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8494A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ở đây nghĩa là nhiều agent chuyên trách nối tiếp trong một pipeline có kiểm soát, không phải các agent tự gọi nhau tự do. Mỗi bước có contract kiểu dữ liệu riêng (Pydantic) nên test được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cố tình nói rõ hai thứ KHÔNG dùng (embeddings/vector DB và MCP) kèm lý do, vì hội đồng sẽ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số đo là quan sát đơn lẻ trên một máy và một mailbox, không phải benchmark — trình bày như order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548640" y="347472"/>
            <a:ext cx="877824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Email Web Research Multi-Agent</a:t>
            </a:r>
            <a:endParaRPr lang="en-US" sz="3600" dirty="0"/>
          </a:p>
        </p:txBody>
      </p:sp>
      <p:sp>
        <p:nvSpPr>
          <p:cNvPr id="3" name="Text 1"/>
          <p:cNvSpPr/>
          <p:nvPr/>
        </p:nvSpPr>
        <p:spPr>
          <a:xfrm>
            <a:off x="9418320" y="457200"/>
            <a:ext cx="2194560" cy="310896"/>
          </a:xfrm>
          <a:prstGeom prst="rect">
            <a:avLst/>
          </a:prstGeom>
          <a:noFill/>
          <a:ln/>
        </p:spPr>
        <p:txBody>
          <a:bodyPr wrap="square" lIns="0" tIns="0" rIns="0" bIns="0" rtlCol="0" anchor="ctr"/>
          <a:lstStyle/>
          <a:p>
            <a:pPr algn="r" indent="0" marL="0">
              <a:buNone/>
            </a:pPr>
            <a:r>
              <a:rPr lang="en-US" sz="1200" b="1" dirty="0">
                <a:solidFill>
                  <a:srgbClr val="E0A33E"/>
                </a:solidFill>
                <a:latin typeface="Calibri" pitchFamily="34" charset="0"/>
                <a:ea typeface="Calibri" pitchFamily="34" charset="-122"/>
                <a:cs typeface="Calibri" pitchFamily="34" charset="-120"/>
              </a:rPr>
              <a:t>Đồ án cuối khoá</a:t>
            </a:r>
            <a:endParaRPr lang="en-US" sz="1200" dirty="0"/>
          </a:p>
        </p:txBody>
      </p:sp>
      <p:sp>
        <p:nvSpPr>
          <p:cNvPr id="4" name="Text 2"/>
          <p:cNvSpPr/>
          <p:nvPr/>
        </p:nvSpPr>
        <p:spPr>
          <a:xfrm>
            <a:off x="548640" y="914400"/>
            <a:ext cx="11064240" cy="384048"/>
          </a:xfrm>
          <a:prstGeom prst="rect">
            <a:avLst/>
          </a:prstGeom>
          <a:noFill/>
          <a:ln/>
        </p:spPr>
        <p:txBody>
          <a:bodyPr wrap="square" lIns="0" tIns="0" rIns="0" bIns="0" rtlCol="0" anchor="ctr"/>
          <a:lstStyle/>
          <a:p>
            <a:pPr indent="0" marL="0">
              <a:buNone/>
            </a:pPr>
            <a:r>
              <a:rPr lang="en-US" sz="1300" dirty="0">
                <a:solidFill>
                  <a:srgbClr val="B3C5DB"/>
                </a:solidFill>
                <a:latin typeface="Calibri" pitchFamily="34" charset="0"/>
                <a:ea typeface="Calibri" pitchFamily="34" charset="-122"/>
                <a:cs typeface="Calibri" pitchFamily="34" charset="-120"/>
              </a:rPr>
              <a:t>Agent đọc mailbox mỗi sáng → phát hiện khách hàng / đối tác mới → nghiên cứu công ty → tra lịch họp → đặt bản brief có nguồn lên bàn người duyệt.</a:t>
            </a:r>
            <a:endParaRPr lang="en-US" sz="1300" dirty="0"/>
          </a:p>
        </p:txBody>
      </p:sp>
      <p:sp>
        <p:nvSpPr>
          <p:cNvPr id="5" name="Shape 3"/>
          <p:cNvSpPr/>
          <p:nvPr/>
        </p:nvSpPr>
        <p:spPr>
          <a:xfrm>
            <a:off x="548640" y="1389888"/>
            <a:ext cx="11091672" cy="566928"/>
          </a:xfrm>
          <a:prstGeom prst="roundRect">
            <a:avLst>
              <a:gd name="adj" fmla="val 9677"/>
            </a:avLst>
          </a:prstGeom>
          <a:solidFill>
            <a:srgbClr val="1B3252"/>
          </a:solidFill>
          <a:ln w="12700">
            <a:solidFill>
              <a:srgbClr val="1B3252"/>
            </a:solidFill>
            <a:prstDash val="solid"/>
          </a:ln>
        </p:spPr>
      </p:sp>
      <p:sp>
        <p:nvSpPr>
          <p:cNvPr id="6" name="Text 4"/>
          <p:cNvSpPr/>
          <p:nvPr/>
        </p:nvSpPr>
        <p:spPr>
          <a:xfrm>
            <a:off x="777240" y="1389888"/>
            <a:ext cx="10698480" cy="566928"/>
          </a:xfrm>
          <a:prstGeom prst="rect">
            <a:avLst/>
          </a:prstGeom>
          <a:noFill/>
          <a:ln/>
        </p:spPr>
        <p:txBody>
          <a:bodyPr wrap="square" lIns="0" tIns="0" rIns="0" bIns="0" rtlCol="0" anchor="ctr"/>
          <a:lstStyle/>
          <a:p>
            <a:pPr indent="0" marL="0">
              <a:buNone/>
            </a:pPr>
            <a:r>
              <a:rPr lang="en-US" sz="1150" b="1" dirty="0">
                <a:solidFill>
                  <a:srgbClr val="E0A33E"/>
                </a:solidFill>
                <a:latin typeface="Calibri" pitchFamily="34" charset="0"/>
                <a:ea typeface="Calibri" pitchFamily="34" charset="-122"/>
                <a:cs typeface="Calibri" pitchFamily="34" charset="-120"/>
              </a:rPr>
              <a:t>MỤC TIÊU   </a:t>
            </a:r>
            <a:pPr indent="0" marL="0">
              <a:buNone/>
            </a:pPr>
            <a:r>
              <a:rPr lang="en-US" sz="1200" dirty="0">
                <a:solidFill>
                  <a:srgbClr val="FFFFFF"/>
                </a:solidFill>
                <a:latin typeface="Calibri" pitchFamily="34" charset="0"/>
                <a:ea typeface="Calibri" pitchFamily="34" charset="-122"/>
                <a:cs typeface="Calibri" pitchFamily="34" charset="-120"/>
              </a:rPr>
              <a:t>Biến inbox thành lead có ngữ cảnh — và giữ một nguyên tắc: không có gì rời khỏi máy hay rời khỏi hệ thống nếu không đi qua một gate mà model không thể tranh luận.</a:t>
            </a:r>
            <a:endParaRPr lang="en-US" sz="1150" dirty="0"/>
          </a:p>
        </p:txBody>
      </p:sp>
      <p:sp>
        <p:nvSpPr>
          <p:cNvPr id="7" name="Shape 5"/>
          <p:cNvSpPr/>
          <p:nvPr/>
        </p:nvSpPr>
        <p:spPr>
          <a:xfrm>
            <a:off x="548640" y="2121408"/>
            <a:ext cx="5440680" cy="2103120"/>
          </a:xfrm>
          <a:prstGeom prst="roundRect">
            <a:avLst>
              <a:gd name="adj" fmla="val 2609"/>
            </a:avLst>
          </a:prstGeom>
          <a:solidFill>
            <a:srgbClr val="1B3252"/>
          </a:solidFill>
          <a:ln w="12700">
            <a:solidFill>
              <a:srgbClr val="1B3252"/>
            </a:solidFill>
            <a:prstDash val="solid"/>
          </a:ln>
        </p:spPr>
      </p:sp>
      <p:sp>
        <p:nvSpPr>
          <p:cNvPr id="8" name="Shape 6"/>
          <p:cNvSpPr/>
          <p:nvPr/>
        </p:nvSpPr>
        <p:spPr>
          <a:xfrm>
            <a:off x="777240" y="2304288"/>
            <a:ext cx="310896" cy="310896"/>
          </a:xfrm>
          <a:prstGeom prst="ellipse">
            <a:avLst/>
          </a:prstGeom>
          <a:solidFill>
            <a:srgbClr val="E0A33E"/>
          </a:solidFill>
          <a:ln w="12700">
            <a:solidFill>
              <a:srgbClr val="E0A33E"/>
            </a:solidFill>
            <a:prstDash val="solid"/>
          </a:ln>
        </p:spPr>
      </p:sp>
      <p:sp>
        <p:nvSpPr>
          <p:cNvPr id="9" name="Text 7"/>
          <p:cNvSpPr/>
          <p:nvPr/>
        </p:nvSpPr>
        <p:spPr>
          <a:xfrm>
            <a:off x="777240" y="2304288"/>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F</a:t>
            </a:r>
            <a:endParaRPr lang="en-US" sz="1200" dirty="0"/>
          </a:p>
        </p:txBody>
      </p:sp>
      <p:sp>
        <p:nvSpPr>
          <p:cNvPr id="10" name="Text 8"/>
          <p:cNvSpPr/>
          <p:nvPr/>
        </p:nvSpPr>
        <p:spPr>
          <a:xfrm>
            <a:off x="1188720" y="2304288"/>
            <a:ext cx="448056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YÊU CẦU CHỨC NĂNG</a:t>
            </a:r>
            <a:endParaRPr lang="en-US" sz="1250" dirty="0"/>
          </a:p>
        </p:txBody>
      </p:sp>
      <p:sp>
        <p:nvSpPr>
          <p:cNvPr id="11" name="Text 9"/>
          <p:cNvSpPr/>
          <p:nvPr/>
        </p:nvSpPr>
        <p:spPr>
          <a:xfrm>
            <a:off x="822960" y="2697480"/>
            <a:ext cx="4937760" cy="1417320"/>
          </a:xfrm>
          <a:prstGeom prst="rect">
            <a:avLst/>
          </a:prstGeom>
          <a:noFill/>
          <a:ln/>
        </p:spPr>
        <p:txBody>
          <a:bodyPr wrap="square" lIns="0" tIns="0" rIns="0" bIns="0" rtlCol="0" anchor="ctr"/>
          <a:lstStyle/>
          <a:p>
            <a:pPr marL="152400" indent="-152400">
              <a:spcAft>
                <a:spcPts val="500"/>
              </a:spcAft>
              <a:buSzPct val="100000"/>
              <a:buChar char="•"/>
            </a:pPr>
            <a:r>
              <a:rPr lang="en-US" sz="1050" dirty="0">
                <a:solidFill>
                  <a:srgbClr val="B3C5DB"/>
                </a:solidFill>
                <a:latin typeface="Calibri" pitchFamily="34" charset="0"/>
                <a:ea typeface="Calibri" pitchFamily="34" charset="-122"/>
                <a:cs typeface="Calibri" pitchFamily="34" charset="-120"/>
              </a:rPr>
              <a:t>Đọc &amp; triage mail đa provider: Gmail API · Microsoft Graph · IMAP</a:t>
            </a:r>
            <a:endParaRPr lang="en-US" sz="1050" dirty="0"/>
          </a:p>
          <a:p>
            <a:pPr marL="152400" indent="-152400">
              <a:spcAft>
                <a:spcPts val="500"/>
              </a:spcAft>
              <a:buSzPct val="100000"/>
              <a:buChar char="•"/>
            </a:pPr>
            <a:r>
              <a:rPr lang="en-US" sz="1050" dirty="0">
                <a:solidFill>
                  <a:srgbClr val="B3C5DB"/>
                </a:solidFill>
                <a:latin typeface="Calibri" pitchFamily="34" charset="0"/>
                <a:ea typeface="Calibri" pitchFamily="34" charset="-122"/>
                <a:cs typeface="Calibri" pitchFamily="34" charset="-120"/>
              </a:rPr>
              <a:t>Nghiên cứu công ty: hồ sơ, sản phẩm, tin tức — kèm URL nguồn từng claim</a:t>
            </a:r>
            <a:endParaRPr lang="en-US" sz="1050" dirty="0"/>
          </a:p>
          <a:p>
            <a:pPr marL="152400" indent="-152400">
              <a:spcAft>
                <a:spcPts val="500"/>
              </a:spcAft>
              <a:buSzPct val="100000"/>
              <a:buChar char="•"/>
            </a:pPr>
            <a:r>
              <a:rPr lang="en-US" sz="1050" dirty="0">
                <a:solidFill>
                  <a:srgbClr val="B3C5DB"/>
                </a:solidFill>
                <a:latin typeface="Calibri" pitchFamily="34" charset="0"/>
                <a:ea typeface="Calibri" pitchFamily="34" charset="-122"/>
                <a:cs typeface="Calibri" pitchFamily="34" charset="-120"/>
              </a:rPr>
              <a:t>Tra lịch: cuộc họp sắp tới, khớp theo domain người tham dự / người tổ chức</a:t>
            </a:r>
            <a:endParaRPr lang="en-US" sz="1050" dirty="0"/>
          </a:p>
          <a:p>
            <a:pPr marL="152400" indent="-152400">
              <a:spcAft>
                <a:spcPts val="500"/>
              </a:spcAft>
              <a:buSzPct val="100000"/>
              <a:buChar char="•"/>
            </a:pPr>
            <a:r>
              <a:rPr lang="en-US" sz="1050" dirty="0">
                <a:solidFill>
                  <a:srgbClr val="B3C5DB"/>
                </a:solidFill>
                <a:latin typeface="Calibri" pitchFamily="34" charset="0"/>
                <a:ea typeface="Calibri" pitchFamily="34" charset="-122"/>
                <a:cs typeface="Calibri" pitchFamily="34" charset="-120"/>
              </a:rPr>
              <a:t>Sinh brief: lắp ghép bằng code, claim không nguồn bị đánh dấu chứ không giấu</a:t>
            </a:r>
            <a:endParaRPr lang="en-US" sz="1050" dirty="0"/>
          </a:p>
          <a:p>
            <a:pPr marL="152400" indent="-152400">
              <a:spcAft>
                <a:spcPts val="500"/>
              </a:spcAft>
              <a:buSzPct val="100000"/>
              <a:buChar char="•"/>
            </a:pPr>
            <a:r>
              <a:rPr lang="en-US" sz="1050" dirty="0">
                <a:solidFill>
                  <a:srgbClr val="B3C5DB"/>
                </a:solidFill>
                <a:latin typeface="Calibri" pitchFamily="34" charset="0"/>
                <a:ea typeface="Calibri" pitchFamily="34" charset="-122"/>
                <a:cs typeface="Calibri" pitchFamily="34" charset="-120"/>
              </a:rPr>
              <a:t>Human-in-the-loop: hàng đợi duyệt — không có gì tự động gửi đi</a:t>
            </a:r>
            <a:endParaRPr lang="en-US" sz="1050" dirty="0"/>
          </a:p>
        </p:txBody>
      </p:sp>
      <p:sp>
        <p:nvSpPr>
          <p:cNvPr id="12" name="Shape 10"/>
          <p:cNvSpPr/>
          <p:nvPr/>
        </p:nvSpPr>
        <p:spPr>
          <a:xfrm>
            <a:off x="6199632" y="2121408"/>
            <a:ext cx="5440680" cy="2103120"/>
          </a:xfrm>
          <a:prstGeom prst="roundRect">
            <a:avLst>
              <a:gd name="adj" fmla="val 2609"/>
            </a:avLst>
          </a:prstGeom>
          <a:solidFill>
            <a:srgbClr val="1B3252"/>
          </a:solidFill>
          <a:ln w="12700">
            <a:solidFill>
              <a:srgbClr val="1B3252"/>
            </a:solidFill>
            <a:prstDash val="solid"/>
          </a:ln>
        </p:spPr>
      </p:sp>
      <p:sp>
        <p:nvSpPr>
          <p:cNvPr id="13" name="Shape 11"/>
          <p:cNvSpPr/>
          <p:nvPr/>
        </p:nvSpPr>
        <p:spPr>
          <a:xfrm>
            <a:off x="6428232" y="2304288"/>
            <a:ext cx="310896" cy="310896"/>
          </a:xfrm>
          <a:prstGeom prst="ellipse">
            <a:avLst/>
          </a:prstGeom>
          <a:solidFill>
            <a:srgbClr val="2E7D8F"/>
          </a:solidFill>
          <a:ln w="12700">
            <a:solidFill>
              <a:srgbClr val="2E7D8F"/>
            </a:solidFill>
            <a:prstDash val="solid"/>
          </a:ln>
        </p:spPr>
      </p:sp>
      <p:sp>
        <p:nvSpPr>
          <p:cNvPr id="14" name="Text 12"/>
          <p:cNvSpPr/>
          <p:nvPr/>
        </p:nvSpPr>
        <p:spPr>
          <a:xfrm>
            <a:off x="6428232" y="23042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15" name="Text 13"/>
          <p:cNvSpPr/>
          <p:nvPr/>
        </p:nvSpPr>
        <p:spPr>
          <a:xfrm>
            <a:off x="6839712" y="2304288"/>
            <a:ext cx="448056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YÊU CẦU PHI CHỨC NĂNG</a:t>
            </a:r>
            <a:endParaRPr lang="en-US" sz="1250" dirty="0"/>
          </a:p>
        </p:txBody>
      </p:sp>
      <p:sp>
        <p:nvSpPr>
          <p:cNvPr id="16" name="Text 14"/>
          <p:cNvSpPr/>
          <p:nvPr/>
        </p:nvSpPr>
        <p:spPr>
          <a:xfrm>
            <a:off x="6473952" y="2697480"/>
            <a:ext cx="4937760" cy="1417320"/>
          </a:xfrm>
          <a:prstGeom prst="rect">
            <a:avLst/>
          </a:prstGeom>
          <a:noFill/>
          <a:ln/>
        </p:spPr>
        <p:txBody>
          <a:bodyPr wrap="square" lIns="0" tIns="0" rIns="0" bIns="0" rtlCol="0" anchor="ctr"/>
          <a:lstStyle/>
          <a:p>
            <a:pPr marL="152400" indent="-152400">
              <a:spcAft>
                <a:spcPts val="300"/>
              </a:spcAft>
              <a:buSzPct val="100000"/>
              <a:buChar char="•"/>
            </a:pPr>
            <a:r>
              <a:rPr lang="en-US" sz="1050" dirty="0">
                <a:solidFill>
                  <a:srgbClr val="B3C5DB"/>
                </a:solidFill>
                <a:latin typeface="Calibri" pitchFamily="34" charset="0"/>
                <a:ea typeface="Calibri" pitchFamily="34" charset="-122"/>
                <a:cs typeface="Calibri" pitchFamily="34" charset="-120"/>
              </a:rPr>
              <a:t>Local-first: chạy trên máy người dùng, web bind 127.0.0.1 + token mỗi phiên</a:t>
            </a:r>
            <a:endParaRPr lang="en-US" sz="1050" dirty="0"/>
          </a:p>
          <a:p>
            <a:pPr marL="152400" indent="-152400">
              <a:spcAft>
                <a:spcPts val="300"/>
              </a:spcAft>
              <a:buSzPct val="100000"/>
              <a:buChar char="•"/>
            </a:pPr>
            <a:r>
              <a:rPr lang="en-US" sz="1050" dirty="0">
                <a:solidFill>
                  <a:srgbClr val="B3C5DB"/>
                </a:solidFill>
                <a:latin typeface="Calibri" pitchFamily="34" charset="0"/>
                <a:ea typeface="Calibri" pitchFamily="34" charset="-122"/>
                <a:cs typeface="Calibri" pitchFamily="34" charset="-120"/>
              </a:rPr>
              <a:t>Least privilege: 6 scope trong .env — thu hồi scope thì tool biến mất khỏi request</a:t>
            </a:r>
            <a:endParaRPr lang="en-US" sz="1050" dirty="0"/>
          </a:p>
          <a:p>
            <a:pPr marL="152400" indent="-152400">
              <a:spcAft>
                <a:spcPts val="300"/>
              </a:spcAft>
              <a:buSzPct val="100000"/>
              <a:buChar char="•"/>
            </a:pPr>
            <a:r>
              <a:rPr lang="en-US" sz="1050" dirty="0">
                <a:solidFill>
                  <a:srgbClr val="B3C5DB"/>
                </a:solidFill>
                <a:latin typeface="Calibri" pitchFamily="34" charset="0"/>
                <a:ea typeface="Calibri" pitchFamily="34" charset="-122"/>
                <a:cs typeface="Calibri" pitchFamily="34" charset="-120"/>
              </a:rPr>
              <a:t>Read-only mailbox: gmail.readonly; mailbox đọc ≠ mailbox gửi (từ chối ở startup)</a:t>
            </a:r>
            <a:endParaRPr lang="en-US" sz="1050" dirty="0"/>
          </a:p>
          <a:p>
            <a:pPr marL="152400" indent="-152400">
              <a:spcAft>
                <a:spcPts val="300"/>
              </a:spcAft>
              <a:buSzPct val="100000"/>
              <a:buChar char="•"/>
            </a:pPr>
            <a:r>
              <a:rPr lang="en-US" sz="1050" dirty="0">
                <a:solidFill>
                  <a:srgbClr val="B3C5DB"/>
                </a:solidFill>
                <a:latin typeface="Calibri" pitchFamily="34" charset="0"/>
                <a:ea typeface="Calibri" pitchFamily="34" charset="-122"/>
                <a:cs typeface="Calibri" pitchFamily="34" charset="-120"/>
              </a:rPr>
              <a:t>Auditability: audit row ghi TRƯỚC khi execute, nên crash vẫn còn bằng chứng</a:t>
            </a:r>
            <a:endParaRPr lang="en-US" sz="1050" dirty="0"/>
          </a:p>
          <a:p>
            <a:pPr marL="152400" indent="-152400">
              <a:spcAft>
                <a:spcPts val="300"/>
              </a:spcAft>
              <a:buSzPct val="100000"/>
              <a:buChar char="•"/>
            </a:pPr>
            <a:r>
              <a:rPr lang="en-US" sz="1050" dirty="0">
                <a:solidFill>
                  <a:srgbClr val="B3C5DB"/>
                </a:solidFill>
                <a:latin typeface="Calibri" pitchFamily="34" charset="0"/>
                <a:ea typeface="Calibri" pitchFamily="34" charset="-122"/>
                <a:cs typeface="Calibri" pitchFamily="34" charset="-120"/>
              </a:rPr>
              <a:t>Chi phí &amp; độ trễ có trần: cache theo domain 14 ngày, cap 10 công ty / lần scan</a:t>
            </a:r>
            <a:endParaRPr lang="en-US" sz="1050" dirty="0"/>
          </a:p>
          <a:p>
            <a:pPr marL="152400" indent="-152400">
              <a:spcAft>
                <a:spcPts val="300"/>
              </a:spcAft>
              <a:buSzPct val="100000"/>
              <a:buChar char="•"/>
            </a:pPr>
            <a:r>
              <a:rPr lang="en-US" sz="1050" dirty="0">
                <a:solidFill>
                  <a:srgbClr val="B3C5DB"/>
                </a:solidFill>
                <a:latin typeface="Calibri" pitchFamily="34" charset="0"/>
                <a:ea typeface="Calibri" pitchFamily="34" charset="-122"/>
                <a:cs typeface="Calibri" pitchFamily="34" charset="-120"/>
              </a:rPr>
              <a:t>Degradation: lỗi → unknown confidence thấp, một batch hỏng không giết cả scan</a:t>
            </a:r>
            <a:endParaRPr lang="en-US" sz="1050" dirty="0"/>
          </a:p>
        </p:txBody>
      </p:sp>
      <p:sp>
        <p:nvSpPr>
          <p:cNvPr id="17" name="Text 15"/>
          <p:cNvSpPr/>
          <p:nvPr/>
        </p:nvSpPr>
        <p:spPr>
          <a:xfrm>
            <a:off x="548640" y="4334256"/>
            <a:ext cx="7315200" cy="274320"/>
          </a:xfrm>
          <a:prstGeom prst="rect">
            <a:avLst/>
          </a:prstGeom>
          <a:noFill/>
          <a:ln/>
        </p:spPr>
        <p:txBody>
          <a:bodyPr wrap="square" lIns="0" tIns="0" rIns="0" bIns="0" rtlCol="0" anchor="ctr"/>
          <a:lstStyle/>
          <a:p>
            <a:pPr indent="0" marL="0">
              <a:buNone/>
            </a:pPr>
            <a:r>
              <a:rPr lang="en-US" sz="1150" b="1" dirty="0">
                <a:solidFill>
                  <a:srgbClr val="E0A33E"/>
                </a:solidFill>
                <a:latin typeface="Calibri" pitchFamily="34" charset="0"/>
                <a:ea typeface="Calibri" pitchFamily="34" charset="-122"/>
                <a:cs typeface="Calibri" pitchFamily="34" charset="-120"/>
              </a:rPr>
              <a:t>LUỒNG XỬ LÝ  ·  người dùng → agent → tools → kết quả</a:t>
            </a:r>
            <a:endParaRPr lang="en-US" sz="1150" dirty="0"/>
          </a:p>
        </p:txBody>
      </p:sp>
      <p:sp>
        <p:nvSpPr>
          <p:cNvPr id="18" name="Shape 16"/>
          <p:cNvSpPr/>
          <p:nvPr/>
        </p:nvSpPr>
        <p:spPr>
          <a:xfrm>
            <a:off x="548640" y="4626864"/>
            <a:ext cx="1371600" cy="1024128"/>
          </a:xfrm>
          <a:prstGeom prst="roundRect">
            <a:avLst>
              <a:gd name="adj" fmla="val 5357"/>
            </a:avLst>
          </a:prstGeom>
          <a:solidFill>
            <a:srgbClr val="1B3252"/>
          </a:solidFill>
          <a:ln w="12700">
            <a:solidFill>
              <a:srgbClr val="1B3252"/>
            </a:solidFill>
            <a:prstDash val="solid"/>
          </a:ln>
        </p:spPr>
      </p:sp>
      <p:sp>
        <p:nvSpPr>
          <p:cNvPr id="19" name="Text 17"/>
          <p:cNvSpPr/>
          <p:nvPr/>
        </p:nvSpPr>
        <p:spPr>
          <a:xfrm>
            <a:off x="603504" y="4709160"/>
            <a:ext cx="126187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Người dùng</a:t>
            </a:r>
            <a:endParaRPr lang="en-US" sz="1050" dirty="0"/>
          </a:p>
        </p:txBody>
      </p:sp>
      <p:sp>
        <p:nvSpPr>
          <p:cNvPr id="20" name="Text 18"/>
          <p:cNvSpPr/>
          <p:nvPr/>
        </p:nvSpPr>
        <p:spPr>
          <a:xfrm>
            <a:off x="603504"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Web UI / CLI</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“Check my email now”</a:t>
            </a:r>
            <a:endParaRPr lang="en-US" sz="800" dirty="0"/>
          </a:p>
        </p:txBody>
      </p:sp>
      <p:sp>
        <p:nvSpPr>
          <p:cNvPr id="21" name="Shape 19"/>
          <p:cNvSpPr/>
          <p:nvPr/>
        </p:nvSpPr>
        <p:spPr>
          <a:xfrm rot="5400000">
            <a:off x="1988820" y="5056632"/>
            <a:ext cx="118872" cy="164592"/>
          </a:xfrm>
          <a:prstGeom prst="triangle">
            <a:avLst/>
          </a:prstGeom>
          <a:solidFill>
            <a:srgbClr val="E0A33E"/>
          </a:solidFill>
          <a:ln w="12700">
            <a:solidFill>
              <a:srgbClr val="E0A33E"/>
            </a:solidFill>
            <a:prstDash val="solid"/>
          </a:ln>
        </p:spPr>
      </p:sp>
      <p:sp>
        <p:nvSpPr>
          <p:cNvPr id="22" name="Shape 20"/>
          <p:cNvSpPr/>
          <p:nvPr/>
        </p:nvSpPr>
        <p:spPr>
          <a:xfrm>
            <a:off x="2168042" y="4626864"/>
            <a:ext cx="1371600" cy="1024128"/>
          </a:xfrm>
          <a:prstGeom prst="roundRect">
            <a:avLst>
              <a:gd name="adj" fmla="val 5357"/>
            </a:avLst>
          </a:prstGeom>
          <a:solidFill>
            <a:srgbClr val="1B3252"/>
          </a:solidFill>
          <a:ln w="12700">
            <a:solidFill>
              <a:srgbClr val="1B3252"/>
            </a:solidFill>
            <a:prstDash val="solid"/>
          </a:ln>
        </p:spPr>
      </p:sp>
      <p:sp>
        <p:nvSpPr>
          <p:cNvPr id="23" name="Text 21"/>
          <p:cNvSpPr/>
          <p:nvPr/>
        </p:nvSpPr>
        <p:spPr>
          <a:xfrm>
            <a:off x="2222906" y="4709160"/>
            <a:ext cx="126187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Mailbox</a:t>
            </a:r>
            <a:endParaRPr lang="en-US" sz="1050" dirty="0"/>
          </a:p>
        </p:txBody>
      </p:sp>
      <p:sp>
        <p:nvSpPr>
          <p:cNvPr id="24" name="Text 22"/>
          <p:cNvSpPr/>
          <p:nvPr/>
        </p:nvSpPr>
        <p:spPr>
          <a:xfrm>
            <a:off x="2222906"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gmail_read</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Gmail · Graph · IMAP</a:t>
            </a:r>
            <a:endParaRPr lang="en-US" sz="800" dirty="0"/>
          </a:p>
        </p:txBody>
      </p:sp>
      <p:sp>
        <p:nvSpPr>
          <p:cNvPr id="25" name="Shape 23"/>
          <p:cNvSpPr/>
          <p:nvPr/>
        </p:nvSpPr>
        <p:spPr>
          <a:xfrm rot="5400000">
            <a:off x="3608222" y="5056632"/>
            <a:ext cx="118872" cy="164592"/>
          </a:xfrm>
          <a:prstGeom prst="triangle">
            <a:avLst/>
          </a:prstGeom>
          <a:solidFill>
            <a:srgbClr val="E0A33E"/>
          </a:solidFill>
          <a:ln w="12700">
            <a:solidFill>
              <a:srgbClr val="E0A33E"/>
            </a:solidFill>
            <a:prstDash val="solid"/>
          </a:ln>
        </p:spPr>
      </p:sp>
      <p:sp>
        <p:nvSpPr>
          <p:cNvPr id="26" name="Shape 24"/>
          <p:cNvSpPr/>
          <p:nvPr/>
        </p:nvSpPr>
        <p:spPr>
          <a:xfrm>
            <a:off x="3787445" y="4626864"/>
            <a:ext cx="1371600" cy="1024128"/>
          </a:xfrm>
          <a:prstGeom prst="roundRect">
            <a:avLst>
              <a:gd name="adj" fmla="val 5357"/>
            </a:avLst>
          </a:prstGeom>
          <a:solidFill>
            <a:srgbClr val="1B3252"/>
          </a:solidFill>
          <a:ln w="12700">
            <a:solidFill>
              <a:srgbClr val="1B3252"/>
            </a:solidFill>
            <a:prstDash val="solid"/>
          </a:ln>
        </p:spPr>
      </p:sp>
      <p:sp>
        <p:nvSpPr>
          <p:cNvPr id="27" name="Text 25"/>
          <p:cNvSpPr/>
          <p:nvPr/>
        </p:nvSpPr>
        <p:spPr>
          <a:xfrm>
            <a:off x="3842309" y="4709160"/>
            <a:ext cx="126187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Bộ lọc rẻ trước</a:t>
            </a:r>
            <a:endParaRPr lang="en-US" sz="1050" dirty="0"/>
          </a:p>
        </p:txBody>
      </p:sp>
      <p:sp>
        <p:nvSpPr>
          <p:cNvPr id="28" name="Text 26"/>
          <p:cNvSpPr/>
          <p:nvPr/>
        </p:nvSpPr>
        <p:spPr>
          <a:xfrm>
            <a:off x="3842309"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_skip_reason()</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0 token, 0 USD</a:t>
            </a:r>
            <a:endParaRPr lang="en-US" sz="800" dirty="0"/>
          </a:p>
        </p:txBody>
      </p:sp>
      <p:sp>
        <p:nvSpPr>
          <p:cNvPr id="29" name="Shape 27"/>
          <p:cNvSpPr/>
          <p:nvPr/>
        </p:nvSpPr>
        <p:spPr>
          <a:xfrm rot="5400000">
            <a:off x="5227625" y="5056632"/>
            <a:ext cx="118872" cy="164592"/>
          </a:xfrm>
          <a:prstGeom prst="triangle">
            <a:avLst/>
          </a:prstGeom>
          <a:solidFill>
            <a:srgbClr val="E0A33E"/>
          </a:solidFill>
          <a:ln w="12700">
            <a:solidFill>
              <a:srgbClr val="E0A33E"/>
            </a:solidFill>
            <a:prstDash val="solid"/>
          </a:ln>
        </p:spPr>
      </p:sp>
      <p:sp>
        <p:nvSpPr>
          <p:cNvPr id="30" name="Shape 28"/>
          <p:cNvSpPr/>
          <p:nvPr/>
        </p:nvSpPr>
        <p:spPr>
          <a:xfrm>
            <a:off x="5406847" y="4626864"/>
            <a:ext cx="1371600" cy="1024128"/>
          </a:xfrm>
          <a:prstGeom prst="roundRect">
            <a:avLst>
              <a:gd name="adj" fmla="val 5357"/>
            </a:avLst>
          </a:prstGeom>
          <a:solidFill>
            <a:srgbClr val="24406A"/>
          </a:solidFill>
          <a:ln w="12700">
            <a:solidFill>
              <a:srgbClr val="E0A33E"/>
            </a:solidFill>
            <a:prstDash val="solid"/>
          </a:ln>
        </p:spPr>
      </p:sp>
      <p:sp>
        <p:nvSpPr>
          <p:cNvPr id="31" name="Text 29"/>
          <p:cNvSpPr/>
          <p:nvPr/>
        </p:nvSpPr>
        <p:spPr>
          <a:xfrm>
            <a:off x="5461711" y="4709160"/>
            <a:ext cx="1261872" cy="256032"/>
          </a:xfrm>
          <a:prstGeom prst="rect">
            <a:avLst/>
          </a:prstGeom>
          <a:noFill/>
          <a:ln/>
        </p:spPr>
        <p:txBody>
          <a:bodyPr wrap="square" lIns="0" tIns="0" rIns="0" bIns="0" rtlCol="0" anchor="ctr"/>
          <a:lstStyle/>
          <a:p>
            <a:pPr algn="ctr" indent="0" marL="0">
              <a:buNone/>
            </a:pPr>
            <a:r>
              <a:rPr lang="en-US" sz="1050" b="1" dirty="0">
                <a:solidFill>
                  <a:srgbClr val="E0A33E"/>
                </a:solidFill>
                <a:latin typeface="Calibri" pitchFamily="34" charset="0"/>
                <a:ea typeface="Calibri" pitchFamily="34" charset="-122"/>
                <a:cs typeface="Calibri" pitchFamily="34" charset="-120"/>
              </a:rPr>
              <a:t>Triage Agent</a:t>
            </a:r>
            <a:endParaRPr lang="en-US" sz="1050" dirty="0"/>
          </a:p>
        </p:txBody>
      </p:sp>
      <p:sp>
        <p:nvSpPr>
          <p:cNvPr id="32" name="Text 30"/>
          <p:cNvSpPr/>
          <p:nvPr/>
        </p:nvSpPr>
        <p:spPr>
          <a:xfrm>
            <a:off x="5461711"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claude-opus-5</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batch 10 · structured out</a:t>
            </a:r>
            <a:endParaRPr lang="en-US" sz="800" dirty="0"/>
          </a:p>
        </p:txBody>
      </p:sp>
      <p:sp>
        <p:nvSpPr>
          <p:cNvPr id="33" name="Shape 31"/>
          <p:cNvSpPr/>
          <p:nvPr/>
        </p:nvSpPr>
        <p:spPr>
          <a:xfrm rot="5400000">
            <a:off x="6847027" y="5056632"/>
            <a:ext cx="118872" cy="164592"/>
          </a:xfrm>
          <a:prstGeom prst="triangle">
            <a:avLst/>
          </a:prstGeom>
          <a:solidFill>
            <a:srgbClr val="E0A33E"/>
          </a:solidFill>
          <a:ln w="12700">
            <a:solidFill>
              <a:srgbClr val="E0A33E"/>
            </a:solidFill>
            <a:prstDash val="solid"/>
          </a:ln>
        </p:spPr>
      </p:sp>
      <p:sp>
        <p:nvSpPr>
          <p:cNvPr id="34" name="Shape 32"/>
          <p:cNvSpPr/>
          <p:nvPr/>
        </p:nvSpPr>
        <p:spPr>
          <a:xfrm>
            <a:off x="7026250" y="4626864"/>
            <a:ext cx="1371600" cy="1024128"/>
          </a:xfrm>
          <a:prstGeom prst="roundRect">
            <a:avLst>
              <a:gd name="adj" fmla="val 5357"/>
            </a:avLst>
          </a:prstGeom>
          <a:solidFill>
            <a:srgbClr val="24406A"/>
          </a:solidFill>
          <a:ln w="12700">
            <a:solidFill>
              <a:srgbClr val="E0A33E"/>
            </a:solidFill>
            <a:prstDash val="solid"/>
          </a:ln>
        </p:spPr>
      </p:sp>
      <p:sp>
        <p:nvSpPr>
          <p:cNvPr id="35" name="Text 33"/>
          <p:cNvSpPr/>
          <p:nvPr/>
        </p:nvSpPr>
        <p:spPr>
          <a:xfrm>
            <a:off x="7081114" y="4709160"/>
            <a:ext cx="1261872" cy="256032"/>
          </a:xfrm>
          <a:prstGeom prst="rect">
            <a:avLst/>
          </a:prstGeom>
          <a:noFill/>
          <a:ln/>
        </p:spPr>
        <p:txBody>
          <a:bodyPr wrap="square" lIns="0" tIns="0" rIns="0" bIns="0" rtlCol="0" anchor="ctr"/>
          <a:lstStyle/>
          <a:p>
            <a:pPr algn="ctr" indent="0" marL="0">
              <a:buNone/>
            </a:pPr>
            <a:r>
              <a:rPr lang="en-US" sz="1050" b="1" dirty="0">
                <a:solidFill>
                  <a:srgbClr val="E0A33E"/>
                </a:solidFill>
                <a:latin typeface="Calibri" pitchFamily="34" charset="0"/>
                <a:ea typeface="Calibri" pitchFamily="34" charset="-122"/>
                <a:cs typeface="Calibri" pitchFamily="34" charset="-120"/>
              </a:rPr>
              <a:t>Research Agent</a:t>
            </a:r>
            <a:endParaRPr lang="en-US" sz="1050" dirty="0"/>
          </a:p>
        </p:txBody>
      </p:sp>
      <p:sp>
        <p:nvSpPr>
          <p:cNvPr id="36" name="Text 34"/>
          <p:cNvSpPr/>
          <p:nvPr/>
        </p:nvSpPr>
        <p:spPr>
          <a:xfrm>
            <a:off x="7081114"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web_search + web_fetch</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cache 14 ngày</a:t>
            </a:r>
            <a:endParaRPr lang="en-US" sz="800" dirty="0"/>
          </a:p>
        </p:txBody>
      </p:sp>
      <p:sp>
        <p:nvSpPr>
          <p:cNvPr id="37" name="Shape 35"/>
          <p:cNvSpPr/>
          <p:nvPr/>
        </p:nvSpPr>
        <p:spPr>
          <a:xfrm rot="5400000">
            <a:off x="8466430" y="5056632"/>
            <a:ext cx="118872" cy="164592"/>
          </a:xfrm>
          <a:prstGeom prst="triangle">
            <a:avLst/>
          </a:prstGeom>
          <a:solidFill>
            <a:srgbClr val="E0A33E"/>
          </a:solidFill>
          <a:ln w="12700">
            <a:solidFill>
              <a:srgbClr val="E0A33E"/>
            </a:solidFill>
            <a:prstDash val="solid"/>
          </a:ln>
        </p:spPr>
      </p:sp>
      <p:sp>
        <p:nvSpPr>
          <p:cNvPr id="38" name="Shape 36"/>
          <p:cNvSpPr/>
          <p:nvPr/>
        </p:nvSpPr>
        <p:spPr>
          <a:xfrm>
            <a:off x="8645652" y="4626864"/>
            <a:ext cx="1371600" cy="1024128"/>
          </a:xfrm>
          <a:prstGeom prst="roundRect">
            <a:avLst>
              <a:gd name="adj" fmla="val 5357"/>
            </a:avLst>
          </a:prstGeom>
          <a:solidFill>
            <a:srgbClr val="1B3252"/>
          </a:solidFill>
          <a:ln w="12700">
            <a:solidFill>
              <a:srgbClr val="1B3252"/>
            </a:solidFill>
            <a:prstDash val="solid"/>
          </a:ln>
        </p:spPr>
      </p:sp>
      <p:sp>
        <p:nvSpPr>
          <p:cNvPr id="39" name="Text 37"/>
          <p:cNvSpPr/>
          <p:nvPr/>
        </p:nvSpPr>
        <p:spPr>
          <a:xfrm>
            <a:off x="8700516" y="4709160"/>
            <a:ext cx="126187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Calendar</a:t>
            </a:r>
            <a:endParaRPr lang="en-US" sz="1050" dirty="0"/>
          </a:p>
        </p:txBody>
      </p:sp>
      <p:sp>
        <p:nvSpPr>
          <p:cNvPr id="40" name="Text 38"/>
          <p:cNvSpPr/>
          <p:nvPr/>
        </p:nvSpPr>
        <p:spPr>
          <a:xfrm>
            <a:off x="8700516"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calendar_read</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khớp domain</a:t>
            </a:r>
            <a:endParaRPr lang="en-US" sz="800" dirty="0"/>
          </a:p>
        </p:txBody>
      </p:sp>
      <p:sp>
        <p:nvSpPr>
          <p:cNvPr id="41" name="Shape 39"/>
          <p:cNvSpPr/>
          <p:nvPr/>
        </p:nvSpPr>
        <p:spPr>
          <a:xfrm rot="5400000">
            <a:off x="10085832" y="5056632"/>
            <a:ext cx="118872" cy="164592"/>
          </a:xfrm>
          <a:prstGeom prst="triangle">
            <a:avLst/>
          </a:prstGeom>
          <a:solidFill>
            <a:srgbClr val="E0A33E"/>
          </a:solidFill>
          <a:ln w="12700">
            <a:solidFill>
              <a:srgbClr val="E0A33E"/>
            </a:solidFill>
            <a:prstDash val="solid"/>
          </a:ln>
        </p:spPr>
      </p:sp>
      <p:sp>
        <p:nvSpPr>
          <p:cNvPr id="42" name="Shape 40"/>
          <p:cNvSpPr/>
          <p:nvPr/>
        </p:nvSpPr>
        <p:spPr>
          <a:xfrm>
            <a:off x="10265054" y="4626864"/>
            <a:ext cx="1371600" cy="1024128"/>
          </a:xfrm>
          <a:prstGeom prst="roundRect">
            <a:avLst>
              <a:gd name="adj" fmla="val 5357"/>
            </a:avLst>
          </a:prstGeom>
          <a:solidFill>
            <a:srgbClr val="1B3252"/>
          </a:solidFill>
          <a:ln w="12700">
            <a:solidFill>
              <a:srgbClr val="1B3252"/>
            </a:solidFill>
            <a:prstDash val="solid"/>
          </a:ln>
        </p:spPr>
      </p:sp>
      <p:sp>
        <p:nvSpPr>
          <p:cNvPr id="43" name="Text 41"/>
          <p:cNvSpPr/>
          <p:nvPr/>
        </p:nvSpPr>
        <p:spPr>
          <a:xfrm>
            <a:off x="10319918" y="4709160"/>
            <a:ext cx="126187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Brief + Review</a:t>
            </a:r>
            <a:endParaRPr lang="en-US" sz="1050" dirty="0"/>
          </a:p>
        </p:txBody>
      </p:sp>
      <p:sp>
        <p:nvSpPr>
          <p:cNvPr id="44" name="Text 42"/>
          <p:cNvSpPr/>
          <p:nvPr/>
        </p:nvSpPr>
        <p:spPr>
          <a:xfrm>
            <a:off x="10319918" y="4956048"/>
            <a:ext cx="1261872" cy="621792"/>
          </a:xfrm>
          <a:prstGeom prst="rect">
            <a:avLst/>
          </a:prstGeom>
          <a:noFill/>
          <a:ln/>
        </p:spPr>
        <p:txBody>
          <a:bodyPr wrap="square" lIns="0" tIns="0" rIns="0" bIns="0" rtlCol="0" anchor="t"/>
          <a:lstStyle/>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lắp bằng code</a:t>
            </a:r>
            <a:endParaRPr lang="en-US" sz="800" dirty="0"/>
          </a:p>
          <a:p>
            <a:pPr algn="ctr" indent="0" marL="0">
              <a:lnSpc>
                <a:spcPct val="105000"/>
              </a:lnSpc>
              <a:buNone/>
            </a:pPr>
            <a:r>
              <a:rPr lang="en-US" sz="800" dirty="0">
                <a:solidFill>
                  <a:srgbClr val="B3C5DB"/>
                </a:solidFill>
                <a:latin typeface="Calibri" pitchFamily="34" charset="0"/>
                <a:ea typeface="Calibri" pitchFamily="34" charset="-122"/>
                <a:cs typeface="Calibri" pitchFamily="34" charset="-120"/>
              </a:rPr>
              <a:t>con người duyệt</a:t>
            </a:r>
            <a:endParaRPr lang="en-US" sz="800" dirty="0"/>
          </a:p>
        </p:txBody>
      </p:sp>
      <p:sp>
        <p:nvSpPr>
          <p:cNvPr id="45" name="Shape 43"/>
          <p:cNvSpPr/>
          <p:nvPr/>
        </p:nvSpPr>
        <p:spPr>
          <a:xfrm>
            <a:off x="548640" y="5833872"/>
            <a:ext cx="11091672" cy="530352"/>
          </a:xfrm>
          <a:prstGeom prst="roundRect">
            <a:avLst>
              <a:gd name="adj" fmla="val 10345"/>
            </a:avLst>
          </a:prstGeom>
          <a:solidFill>
            <a:srgbClr val="1B3252"/>
          </a:solidFill>
          <a:ln w="12700">
            <a:solidFill>
              <a:srgbClr val="2E7D8F"/>
            </a:solidFill>
            <a:prstDash val="solid"/>
          </a:ln>
        </p:spPr>
      </p:sp>
      <p:sp>
        <p:nvSpPr>
          <p:cNvPr id="46" name="Text 44"/>
          <p:cNvSpPr/>
          <p:nvPr/>
        </p:nvSpPr>
        <p:spPr>
          <a:xfrm>
            <a:off x="777240" y="5833872"/>
            <a:ext cx="10698480" cy="530352"/>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TOOL HARNESS   </a:t>
            </a:r>
            <a:pPr indent="0" marL="0">
              <a:buNone/>
            </a:pPr>
            <a:r>
              <a:rPr lang="en-US" sz="1050" dirty="0">
                <a:solidFill>
                  <a:srgbClr val="FFFFFF"/>
                </a:solidFill>
                <a:latin typeface="Calibri" pitchFamily="34" charset="0"/>
                <a:ea typeface="Calibri" pitchFamily="34" charset="-122"/>
                <a:cs typeface="Calibri" pitchFamily="34" charset="-120"/>
              </a:rPr>
              <a:t>Mọi capability đi qua đúng một registry — 6 gate theo thứ tự cố định:  schema → auth → scopes → rate_limit → audit → execute.  Bị từ chối = ToolDenied, model đọc được, scan không chết.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6858000" cy="548640"/>
          </a:xfrm>
          <a:prstGeom prst="rect">
            <a:avLst/>
          </a:prstGeom>
          <a:noFill/>
          <a:ln/>
        </p:spPr>
        <p:txBody>
          <a:bodyPr wrap="square" lIns="0" tIns="0" rIns="0" bIns="0" rtlCol="0" anchor="ctr"/>
          <a:lstStyle/>
          <a:p>
            <a:pPr indent="0" marL="0">
              <a:buNone/>
            </a:pPr>
            <a:r>
              <a:rPr lang="en-US" sz="3200" b="1" dirty="0">
                <a:solidFill>
                  <a:srgbClr val="16263A"/>
                </a:solidFill>
                <a:latin typeface="Cambria" pitchFamily="34" charset="0"/>
                <a:ea typeface="Cambria" pitchFamily="34" charset="-122"/>
                <a:cs typeface="Cambria" pitchFamily="34" charset="-120"/>
              </a:rPr>
              <a:t>Thiết kế hệ thống</a:t>
            </a:r>
            <a:endParaRPr lang="en-US" sz="3200" dirty="0"/>
          </a:p>
        </p:txBody>
      </p:sp>
      <p:sp>
        <p:nvSpPr>
          <p:cNvPr id="3" name="Text 1"/>
          <p:cNvSpPr/>
          <p:nvPr/>
        </p:nvSpPr>
        <p:spPr>
          <a:xfrm>
            <a:off x="6858000" y="530352"/>
            <a:ext cx="4782312" cy="365760"/>
          </a:xfrm>
          <a:prstGeom prst="rect">
            <a:avLst/>
          </a:prstGeom>
          <a:noFill/>
          <a:ln/>
        </p:spPr>
        <p:txBody>
          <a:bodyPr wrap="square" lIns="0" tIns="0" rIns="0" bIns="0" rtlCol="0" anchor="ctr"/>
          <a:lstStyle/>
          <a:p>
            <a:pPr algn="r" indent="0" marL="0">
              <a:buNone/>
            </a:pPr>
            <a:r>
              <a:rPr lang="en-US" sz="1200" dirty="0">
                <a:solidFill>
                  <a:srgbClr val="5F718A"/>
                </a:solidFill>
                <a:latin typeface="Calibri" pitchFamily="34" charset="0"/>
                <a:ea typeface="Calibri" pitchFamily="34" charset="-122"/>
                <a:cs typeface="Calibri" pitchFamily="34" charset="-120"/>
              </a:rPr>
              <a:t>~8.300 dòng Python · 6 tool · 6 bảng SQLite · 0 vector DB</a:t>
            </a:r>
            <a:endParaRPr lang="en-US" sz="1200" dirty="0"/>
          </a:p>
        </p:txBody>
      </p:sp>
      <p:sp>
        <p:nvSpPr>
          <p:cNvPr id="4" name="Shape 2"/>
          <p:cNvSpPr/>
          <p:nvPr/>
        </p:nvSpPr>
        <p:spPr>
          <a:xfrm>
            <a:off x="548640" y="1325880"/>
            <a:ext cx="3566160" cy="2103120"/>
          </a:xfrm>
          <a:prstGeom prst="roundRect">
            <a:avLst>
              <a:gd name="adj" fmla="val 2609"/>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5" name="Shape 3"/>
          <p:cNvSpPr/>
          <p:nvPr/>
        </p:nvSpPr>
        <p:spPr>
          <a:xfrm>
            <a:off x="749808" y="1508760"/>
            <a:ext cx="310896" cy="310896"/>
          </a:xfrm>
          <a:prstGeom prst="ellipse">
            <a:avLst/>
          </a:prstGeom>
          <a:solidFill>
            <a:srgbClr val="E0A33E"/>
          </a:solidFill>
          <a:ln w="12700">
            <a:solidFill>
              <a:srgbClr val="E0A33E"/>
            </a:solidFill>
            <a:prstDash val="solid"/>
          </a:ln>
        </p:spPr>
      </p:sp>
      <p:sp>
        <p:nvSpPr>
          <p:cNvPr id="6" name="Text 4"/>
          <p:cNvSpPr/>
          <p:nvPr/>
        </p:nvSpPr>
        <p:spPr>
          <a:xfrm>
            <a:off x="749808" y="1508760"/>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52144" y="1508760"/>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Mô hình LLM</a:t>
            </a:r>
            <a:endParaRPr lang="en-US" sz="1200" dirty="0"/>
          </a:p>
        </p:txBody>
      </p:sp>
      <p:sp>
        <p:nvSpPr>
          <p:cNvPr id="8" name="Text 6"/>
          <p:cNvSpPr/>
          <p:nvPr/>
        </p:nvSpPr>
        <p:spPr>
          <a:xfrm>
            <a:off x="786384" y="1874520"/>
            <a:ext cx="3108960" cy="1417320"/>
          </a:xfrm>
          <a:prstGeom prst="rect">
            <a:avLst/>
          </a:prstGeom>
          <a:noFill/>
          <a:ln/>
        </p:spPr>
        <p:txBody>
          <a:bodyPr wrap="square" lIns="0" tIns="0" rIns="0" bIns="0" rtlCol="0" anchor="ctr"/>
          <a:lstStyle/>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Triage: claude-opus-5, effort low, batch 10 email / call</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Research: claude-opus-5, effort medium, tối đa 8 search</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Backend thay được: Anthropic API hoặc Ollama local (qwen3:8b) — cùng prompt, cùng schema</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Structured output: Pydantic → JSON Schema, ép ở phía server hoặc ở sampler của Ollama</a:t>
            </a:r>
            <a:endParaRPr lang="en-US" sz="950" dirty="0"/>
          </a:p>
        </p:txBody>
      </p:sp>
      <p:sp>
        <p:nvSpPr>
          <p:cNvPr id="9" name="Shape 7"/>
          <p:cNvSpPr/>
          <p:nvPr/>
        </p:nvSpPr>
        <p:spPr>
          <a:xfrm>
            <a:off x="4343400" y="1325880"/>
            <a:ext cx="3566160" cy="2103120"/>
          </a:xfrm>
          <a:prstGeom prst="roundRect">
            <a:avLst>
              <a:gd name="adj" fmla="val 2609"/>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10" name="Shape 8"/>
          <p:cNvSpPr/>
          <p:nvPr/>
        </p:nvSpPr>
        <p:spPr>
          <a:xfrm>
            <a:off x="4544568" y="1508760"/>
            <a:ext cx="310896" cy="310896"/>
          </a:xfrm>
          <a:prstGeom prst="ellipse">
            <a:avLst/>
          </a:prstGeom>
          <a:solidFill>
            <a:srgbClr val="2E7D8F"/>
          </a:solidFill>
          <a:ln w="12700">
            <a:solidFill>
              <a:srgbClr val="2E7D8F"/>
            </a:solidFill>
            <a:prstDash val="solid"/>
          </a:ln>
        </p:spPr>
      </p:sp>
      <p:sp>
        <p:nvSpPr>
          <p:cNvPr id="11" name="Text 9"/>
          <p:cNvSpPr/>
          <p:nvPr/>
        </p:nvSpPr>
        <p:spPr>
          <a:xfrm>
            <a:off x="4544568" y="1508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46904" y="1508760"/>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Xử lý nội dung đầu vào</a:t>
            </a:r>
            <a:endParaRPr lang="en-US" sz="1200" dirty="0"/>
          </a:p>
        </p:txBody>
      </p:sp>
      <p:sp>
        <p:nvSpPr>
          <p:cNvPr id="13" name="Text 11"/>
          <p:cNvSpPr/>
          <p:nvPr/>
        </p:nvSpPr>
        <p:spPr>
          <a:xfrm>
            <a:off x="4581144" y="1874520"/>
            <a:ext cx="3108960" cy="1417320"/>
          </a:xfrm>
          <a:prstGeom prst="rect">
            <a:avLst/>
          </a:prstGeom>
          <a:noFill/>
          <a:ln/>
        </p:spPr>
        <p:txBody>
          <a:bodyPr wrap="square" lIns="0" tIns="0" rIns="0" bIns="0" rtlCol="0" anchor="ctr"/>
          <a:lstStyle/>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mime.py: HTML → text, tách chữ ký, bỏ quoted reply chain, truncate body</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Không có parser PDF/Office — đơn vị dữ liệu là 1 email và 1 trang web</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Truy xuất web: web_search + web_fetch hosted của Claude — không tự viết scraper để khỏi vỡ khi site đổi markup</a:t>
            </a:r>
            <a:endParaRPr lang="en-US" sz="950" dirty="0"/>
          </a:p>
        </p:txBody>
      </p:sp>
      <p:sp>
        <p:nvSpPr>
          <p:cNvPr id="14" name="Shape 12"/>
          <p:cNvSpPr/>
          <p:nvPr/>
        </p:nvSpPr>
        <p:spPr>
          <a:xfrm>
            <a:off x="8138160" y="1325880"/>
            <a:ext cx="3566160" cy="2103120"/>
          </a:xfrm>
          <a:prstGeom prst="roundRect">
            <a:avLst>
              <a:gd name="adj" fmla="val 2609"/>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15" name="Shape 13"/>
          <p:cNvSpPr/>
          <p:nvPr/>
        </p:nvSpPr>
        <p:spPr>
          <a:xfrm>
            <a:off x="8339328" y="1508760"/>
            <a:ext cx="310896" cy="310896"/>
          </a:xfrm>
          <a:prstGeom prst="ellipse">
            <a:avLst/>
          </a:prstGeom>
          <a:solidFill>
            <a:srgbClr val="B4453C"/>
          </a:solidFill>
          <a:ln w="12700">
            <a:solidFill>
              <a:srgbClr val="B4453C"/>
            </a:solidFill>
            <a:prstDash val="solid"/>
          </a:ln>
        </p:spPr>
      </p:sp>
      <p:sp>
        <p:nvSpPr>
          <p:cNvPr id="16" name="Text 14"/>
          <p:cNvSpPr/>
          <p:nvPr/>
        </p:nvSpPr>
        <p:spPr>
          <a:xfrm>
            <a:off x="8339328" y="1508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41664" y="1508760"/>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Chunking &amp; Embeddings — KHÔNG dùng</a:t>
            </a:r>
            <a:endParaRPr lang="en-US" sz="1200" dirty="0"/>
          </a:p>
        </p:txBody>
      </p:sp>
      <p:sp>
        <p:nvSpPr>
          <p:cNvPr id="18" name="Text 16"/>
          <p:cNvSpPr/>
          <p:nvPr/>
        </p:nvSpPr>
        <p:spPr>
          <a:xfrm>
            <a:off x="8375904" y="1874520"/>
            <a:ext cx="3108960" cy="1417320"/>
          </a:xfrm>
          <a:prstGeom prst="rect">
            <a:avLst/>
          </a:prstGeom>
          <a:noFill/>
          <a:ln/>
        </p:spPr>
        <p:txBody>
          <a:bodyPr wrap="square" lIns="0" tIns="0" rIns="0" bIns="0" rtlCol="0" anchor="ctr"/>
          <a:lstStyle/>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Không có corpus dài để cắt: email đã ngắn, profile công ty gom theo domain</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Retrieval do hosted search làm, model tự chọn trang — không cần index để đi tìm</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Thêm embedding lúc này là thêm một tầng phải bảo trì mà không trả lại độ chính xác nào</a:t>
            </a:r>
            <a:endParaRPr lang="en-US" sz="950" dirty="0"/>
          </a:p>
        </p:txBody>
      </p:sp>
      <p:sp>
        <p:nvSpPr>
          <p:cNvPr id="19" name="Shape 17"/>
          <p:cNvSpPr/>
          <p:nvPr/>
        </p:nvSpPr>
        <p:spPr>
          <a:xfrm>
            <a:off x="548640" y="3611880"/>
            <a:ext cx="3566160" cy="2103120"/>
          </a:xfrm>
          <a:prstGeom prst="roundRect">
            <a:avLst>
              <a:gd name="adj" fmla="val 2609"/>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20" name="Shape 18"/>
          <p:cNvSpPr/>
          <p:nvPr/>
        </p:nvSpPr>
        <p:spPr>
          <a:xfrm>
            <a:off x="749808" y="3794760"/>
            <a:ext cx="310896" cy="310896"/>
          </a:xfrm>
          <a:prstGeom prst="ellipse">
            <a:avLst/>
          </a:prstGeom>
          <a:solidFill>
            <a:srgbClr val="2E7D8F"/>
          </a:solidFill>
          <a:ln w="12700">
            <a:solidFill>
              <a:srgbClr val="2E7D8F"/>
            </a:solidFill>
            <a:prstDash val="solid"/>
          </a:ln>
        </p:spPr>
      </p:sp>
      <p:sp>
        <p:nvSpPr>
          <p:cNvPr id="21" name="Text 19"/>
          <p:cNvSpPr/>
          <p:nvPr/>
        </p:nvSpPr>
        <p:spPr>
          <a:xfrm>
            <a:off x="749808" y="3794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52144" y="3794760"/>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Memory</a:t>
            </a:r>
            <a:endParaRPr lang="en-US" sz="1200" dirty="0"/>
          </a:p>
        </p:txBody>
      </p:sp>
      <p:sp>
        <p:nvSpPr>
          <p:cNvPr id="23" name="Text 21"/>
          <p:cNvSpPr/>
          <p:nvPr/>
        </p:nvSpPr>
        <p:spPr>
          <a:xfrm>
            <a:off x="786384" y="4160520"/>
            <a:ext cx="3108960" cy="1417320"/>
          </a:xfrm>
          <a:prstGeom prst="rect">
            <a:avLst/>
          </a:prstGeom>
          <a:noFill/>
          <a:ln/>
        </p:spPr>
        <p:txBody>
          <a:bodyPr wrap="square" lIns="0" tIns="0" rIns="0" bIns="0" rtlCol="0" anchor="ctr"/>
          <a:lstStyle/>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Short-term: batch 10 email trong 1 lượt gọi, mỗi field người gửi viết đều bị rào &lt;untrusted-…&gt;</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Long-term: SQLite 6 bảng — known_senders, processed_messages, company_research, agent_state, tool_calls, briefs</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“RAG” thực chất là cache-by-domain TTL 14 ngày; lỗi được cache 6 giờ để không retry mỗi scan</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State scope theo user_id → một deployment phục vụ nhiều mailbox không lẫn nhau</a:t>
            </a:r>
            <a:endParaRPr lang="en-US" sz="950" dirty="0"/>
          </a:p>
        </p:txBody>
      </p:sp>
      <p:sp>
        <p:nvSpPr>
          <p:cNvPr id="24" name="Shape 22"/>
          <p:cNvSpPr/>
          <p:nvPr/>
        </p:nvSpPr>
        <p:spPr>
          <a:xfrm>
            <a:off x="4343400" y="3611880"/>
            <a:ext cx="3566160" cy="2103120"/>
          </a:xfrm>
          <a:prstGeom prst="roundRect">
            <a:avLst>
              <a:gd name="adj" fmla="val 2609"/>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25" name="Shape 23"/>
          <p:cNvSpPr/>
          <p:nvPr/>
        </p:nvSpPr>
        <p:spPr>
          <a:xfrm>
            <a:off x="4544568" y="3794760"/>
            <a:ext cx="310896" cy="310896"/>
          </a:xfrm>
          <a:prstGeom prst="ellipse">
            <a:avLst/>
          </a:prstGeom>
          <a:solidFill>
            <a:srgbClr val="E0A33E"/>
          </a:solidFill>
          <a:ln w="12700">
            <a:solidFill>
              <a:srgbClr val="E0A33E"/>
            </a:solidFill>
            <a:prstDash val="solid"/>
          </a:ln>
        </p:spPr>
      </p:sp>
      <p:sp>
        <p:nvSpPr>
          <p:cNvPr id="26" name="Text 24"/>
          <p:cNvSpPr/>
          <p:nvPr/>
        </p:nvSpPr>
        <p:spPr>
          <a:xfrm>
            <a:off x="4544568" y="3794760"/>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4946904" y="3794760"/>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Tools tích hợp (6)</a:t>
            </a:r>
            <a:endParaRPr lang="en-US" sz="1200" dirty="0"/>
          </a:p>
        </p:txBody>
      </p:sp>
      <p:sp>
        <p:nvSpPr>
          <p:cNvPr id="28" name="Text 26"/>
          <p:cNvSpPr/>
          <p:nvPr/>
        </p:nvSpPr>
        <p:spPr>
          <a:xfrm>
            <a:off x="4581144" y="4160520"/>
            <a:ext cx="3108960" cy="1417320"/>
          </a:xfrm>
          <a:prstGeom prst="rect">
            <a:avLst/>
          </a:prstGeom>
          <a:noFill/>
          <a:ln/>
        </p:spPr>
        <p:txBody>
          <a:bodyPr wrap="square" lIns="0" tIns="0" rIns="0" bIns="0" rtlCol="0" anchor="ctr"/>
          <a:lstStyle/>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web_search · web_fetch → scope research:read</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gmail_read → mail:read   ·   calendar_read → calendar:read</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store_write → memory:write   ·   deliver_brief → brief:deliver (mặc định TẮT)</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Argument model extra="forbid", chỉ mang định danh; registry hash tham số rồi vứt giá trị đi</a:t>
            </a:r>
            <a:endParaRPr lang="en-US" sz="950" dirty="0"/>
          </a:p>
        </p:txBody>
      </p:sp>
      <p:sp>
        <p:nvSpPr>
          <p:cNvPr id="29" name="Shape 27"/>
          <p:cNvSpPr/>
          <p:nvPr/>
        </p:nvSpPr>
        <p:spPr>
          <a:xfrm>
            <a:off x="8138160" y="3611880"/>
            <a:ext cx="3566160" cy="2103120"/>
          </a:xfrm>
          <a:prstGeom prst="roundRect">
            <a:avLst>
              <a:gd name="adj" fmla="val 2609"/>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30" name="Shape 28"/>
          <p:cNvSpPr/>
          <p:nvPr/>
        </p:nvSpPr>
        <p:spPr>
          <a:xfrm>
            <a:off x="8339328" y="3794760"/>
            <a:ext cx="310896" cy="310896"/>
          </a:xfrm>
          <a:prstGeom prst="ellipse">
            <a:avLst/>
          </a:prstGeom>
          <a:solidFill>
            <a:srgbClr val="B4453C"/>
          </a:solidFill>
          <a:ln w="12700">
            <a:solidFill>
              <a:srgbClr val="B4453C"/>
            </a:solidFill>
            <a:prstDash val="solid"/>
          </a:ln>
        </p:spPr>
      </p:sp>
      <p:sp>
        <p:nvSpPr>
          <p:cNvPr id="31" name="Text 29"/>
          <p:cNvSpPr/>
          <p:nvPr/>
        </p:nvSpPr>
        <p:spPr>
          <a:xfrm>
            <a:off x="8339328" y="3794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741664" y="3794760"/>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MCP — KHÔNG dùng</a:t>
            </a:r>
            <a:endParaRPr lang="en-US" sz="1200" dirty="0"/>
          </a:p>
        </p:txBody>
      </p:sp>
      <p:sp>
        <p:nvSpPr>
          <p:cNvPr id="33" name="Text 31"/>
          <p:cNvSpPr/>
          <p:nvPr/>
        </p:nvSpPr>
        <p:spPr>
          <a:xfrm>
            <a:off x="8375904" y="4160520"/>
            <a:ext cx="3108960" cy="1417320"/>
          </a:xfrm>
          <a:prstGeom prst="rect">
            <a:avLst/>
          </a:prstGeom>
          <a:noFill/>
          <a:ln/>
        </p:spPr>
        <p:txBody>
          <a:bodyPr wrap="square" lIns="0" tIns="0" rIns="0" bIns="0" rtlCol="0" anchor="ctr"/>
          <a:lstStyle/>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Tool chạy in-process, cần gate đồng bộ và audit row ghi trước execute</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Bọc thêm một MCP server chỉ thêm một hop và thêm bề mặt tấn công, không thêm năng lực</a:t>
            </a:r>
            <a:endParaRPr lang="en-US" sz="950" dirty="0"/>
          </a:p>
          <a:p>
            <a:pPr marL="152400" indent="-152400">
              <a:spcAft>
                <a:spcPts val="400"/>
              </a:spcAft>
              <a:buSzPct val="100000"/>
              <a:buChar char="•"/>
            </a:pPr>
            <a:r>
              <a:rPr lang="en-US" sz="950" dirty="0">
                <a:solidFill>
                  <a:srgbClr val="3C4C60"/>
                </a:solidFill>
                <a:latin typeface="Calibri" pitchFamily="34" charset="0"/>
                <a:ea typeface="Calibri" pitchFamily="34" charset="-122"/>
                <a:cs typeface="Calibri" pitchFamily="34" charset="-120"/>
              </a:rPr>
              <a:t>MCP đáng giá khi có host thứ hai cần dùng lại đúng bộ tool này — đó là điều kiện để bật, không phải mặc định</a:t>
            </a:r>
            <a:endParaRPr lang="en-US" sz="950" dirty="0"/>
          </a:p>
        </p:txBody>
      </p:sp>
      <p:sp>
        <p:nvSpPr>
          <p:cNvPr id="34" name="Shape 32"/>
          <p:cNvSpPr/>
          <p:nvPr/>
        </p:nvSpPr>
        <p:spPr>
          <a:xfrm>
            <a:off x="548640" y="5870448"/>
            <a:ext cx="11091672" cy="512064"/>
          </a:xfrm>
          <a:prstGeom prst="roundRect">
            <a:avLst>
              <a:gd name="adj" fmla="val 10714"/>
            </a:avLst>
          </a:prstGeom>
          <a:solidFill>
            <a:srgbClr val="E7EDF6"/>
          </a:solidFill>
          <a:ln w="12700">
            <a:solidFill>
              <a:srgbClr val="D6DEEA"/>
            </a:solidFill>
            <a:prstDash val="solid"/>
          </a:ln>
        </p:spPr>
      </p:sp>
      <p:sp>
        <p:nvSpPr>
          <p:cNvPr id="35" name="Text 33"/>
          <p:cNvSpPr/>
          <p:nvPr/>
        </p:nvSpPr>
        <p:spPr>
          <a:xfrm>
            <a:off x="777240" y="5870448"/>
            <a:ext cx="10698480" cy="512064"/>
          </a:xfrm>
          <a:prstGeom prst="rect">
            <a:avLst/>
          </a:prstGeom>
          <a:noFill/>
          <a:ln/>
        </p:spPr>
        <p:txBody>
          <a:bodyPr wrap="square" lIns="0" tIns="0" rIns="0" bIns="0" rtlCol="0" anchor="ctr"/>
          <a:lstStyle/>
          <a:p>
            <a:pPr indent="0" marL="0">
              <a:buNone/>
            </a:pPr>
            <a:r>
              <a:rPr lang="en-US" sz="1050" b="1" dirty="0">
                <a:solidFill>
                  <a:srgbClr val="2E7D8F"/>
                </a:solidFill>
                <a:latin typeface="Calibri" pitchFamily="34" charset="0"/>
                <a:ea typeface="Calibri" pitchFamily="34" charset="-122"/>
                <a:cs typeface="Calibri" pitchFamily="34" charset="-120"/>
              </a:rPr>
              <a:t>MỘT Ý TƯỞNG KIẾN TRÚC, LẶP LẠI 5 LẦN   </a:t>
            </a:r>
            <a:pPr indent="0" marL="0">
              <a:buNone/>
            </a:pPr>
            <a:r>
              <a:rPr lang="en-US" sz="1050" dirty="0">
                <a:solidFill>
                  <a:srgbClr val="16263A"/>
                </a:solidFill>
                <a:latin typeface="Calibri" pitchFamily="34" charset="0"/>
                <a:ea typeface="Calibri" pitchFamily="34" charset="-122"/>
                <a:cs typeface="Calibri" pitchFamily="34" charset="-120"/>
              </a:rPr>
              <a:t>Protocol + nhiều implementation + một factory đọc .env — dùng cho mail provider, triage backend, research provider, calendar, delivery. Hiểu một lần là mở được cả codebase.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7315200" cy="548640"/>
          </a:xfrm>
          <a:prstGeom prst="rect">
            <a:avLst/>
          </a:prstGeom>
          <a:noFill/>
          <a:ln/>
        </p:spPr>
        <p:txBody>
          <a:bodyPr wrap="square" lIns="0" tIns="0" rIns="0" bIns="0" rtlCol="0" anchor="ctr"/>
          <a:lstStyle/>
          <a:p>
            <a:pPr indent="0" marL="0">
              <a:buNone/>
            </a:pPr>
            <a:r>
              <a:rPr lang="en-US" sz="3200" b="1" dirty="0">
                <a:solidFill>
                  <a:srgbClr val="16263A"/>
                </a:solidFill>
                <a:latin typeface="Cambria" pitchFamily="34" charset="0"/>
                <a:ea typeface="Cambria" pitchFamily="34" charset="-122"/>
                <a:cs typeface="Cambria" pitchFamily="34" charset="-120"/>
              </a:rPr>
              <a:t>Khó khăn khi triển khai</a:t>
            </a:r>
            <a:endParaRPr lang="en-US" sz="3200" dirty="0"/>
          </a:p>
        </p:txBody>
      </p:sp>
      <p:sp>
        <p:nvSpPr>
          <p:cNvPr id="3" name="Text 1"/>
          <p:cNvSpPr/>
          <p:nvPr/>
        </p:nvSpPr>
        <p:spPr>
          <a:xfrm>
            <a:off x="548640" y="914400"/>
            <a:ext cx="7315200" cy="274320"/>
          </a:xfrm>
          <a:prstGeom prst="rect">
            <a:avLst/>
          </a:prstGeom>
          <a:noFill/>
          <a:ln/>
        </p:spPr>
        <p:txBody>
          <a:bodyPr wrap="square" lIns="0" tIns="0" rIns="0" bIns="0" rtlCol="0" anchor="ctr"/>
          <a:lstStyle/>
          <a:p>
            <a:pPr indent="0" marL="0">
              <a:buNone/>
            </a:pPr>
            <a:r>
              <a:rPr lang="en-US" sz="1200" i="1" dirty="0">
                <a:solidFill>
                  <a:srgbClr val="5F718A"/>
                </a:solidFill>
                <a:latin typeface="Calibri" pitchFamily="34" charset="0"/>
                <a:ea typeface="Calibri" pitchFamily="34" charset="-122"/>
                <a:cs typeface="Calibri" pitchFamily="34" charset="-120"/>
              </a:rPr>
              <a:t>và cái giá thật của từng thứ</a:t>
            </a:r>
            <a:endParaRPr lang="en-US" sz="1200" dirty="0"/>
          </a:p>
        </p:txBody>
      </p:sp>
      <p:sp>
        <p:nvSpPr>
          <p:cNvPr id="4" name="Shape 2"/>
          <p:cNvSpPr/>
          <p:nvPr/>
        </p:nvSpPr>
        <p:spPr>
          <a:xfrm>
            <a:off x="548640" y="1307592"/>
            <a:ext cx="310896" cy="310896"/>
          </a:xfrm>
          <a:prstGeom prst="ellipse">
            <a:avLst/>
          </a:prstGeom>
          <a:solidFill>
            <a:srgbClr val="B4453C"/>
          </a:solidFill>
          <a:ln w="12700">
            <a:solidFill>
              <a:srgbClr val="B4453C"/>
            </a:solidFill>
            <a:prstDash val="solid"/>
          </a:ln>
        </p:spPr>
      </p:sp>
      <p:sp>
        <p:nvSpPr>
          <p:cNvPr id="5" name="Text 3"/>
          <p:cNvSpPr/>
          <p:nvPr/>
        </p:nvSpPr>
        <p:spPr>
          <a:xfrm>
            <a:off x="548640" y="13075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969264" y="1298448"/>
            <a:ext cx="6309360" cy="237744"/>
          </a:xfrm>
          <a:prstGeom prst="rect">
            <a:avLst/>
          </a:prstGeom>
          <a:noFill/>
          <a:ln/>
        </p:spPr>
        <p:txBody>
          <a:bodyPr wrap="square" lIns="0" tIns="0" rIns="0" bIns="0" rtlCol="0" anchor="ctr"/>
          <a:lstStyle/>
          <a:p>
            <a:pPr indent="0" marL="0">
              <a:buNone/>
            </a:pPr>
            <a:r>
              <a:rPr lang="en-US" sz="1150" b="1" dirty="0">
                <a:solidFill>
                  <a:srgbClr val="16263A"/>
                </a:solidFill>
                <a:latin typeface="Calibri" pitchFamily="34" charset="0"/>
                <a:ea typeface="Calibri" pitchFamily="34" charset="-122"/>
                <a:cs typeface="Calibri" pitchFamily="34" charset="-120"/>
              </a:rPr>
              <a:t>Prompt injection</a:t>
            </a:r>
            <a:endParaRPr lang="en-US" sz="1150" dirty="0"/>
          </a:p>
        </p:txBody>
      </p:sp>
      <p:sp>
        <p:nvSpPr>
          <p:cNvPr id="7" name="Text 5"/>
          <p:cNvSpPr/>
          <p:nvPr/>
        </p:nvSpPr>
        <p:spPr>
          <a:xfrm>
            <a:off x="969264" y="1536192"/>
            <a:ext cx="6309360" cy="694944"/>
          </a:xfrm>
          <a:prstGeom prst="rect">
            <a:avLst/>
          </a:prstGeom>
          <a:noFill/>
          <a:ln/>
        </p:spPr>
        <p:txBody>
          <a:bodyPr wrap="square" lIns="0" tIns="0" rIns="0" bIns="0" rtlCol="0" anchor="ctr"/>
          <a:lstStyle/>
          <a:p>
            <a:pPr indent="0" marL="0">
              <a:lnSpc>
                <a:spcPct val="98000"/>
              </a:lnSpc>
              <a:buNone/>
            </a:pPr>
            <a:r>
              <a:rPr lang="en-US" sz="900" dirty="0">
                <a:solidFill>
                  <a:srgbClr val="3C4C60"/>
                </a:solidFill>
                <a:latin typeface="Calibri" pitchFamily="34" charset="0"/>
                <a:ea typeface="Calibri" pitchFamily="34" charset="-122"/>
                <a:cs typeface="Calibri" pitchFamily="34" charset="-120"/>
              </a:rPr>
              <a:t>Nội dung email do kẻ tấn công kiểm soát. Đã rào mọi field người gửi viết trong &lt;untrusted-…&gt; với id ngẫu nhiên mỗi call — nhưng rào là control mức model, mà control mức model thì thua tấn công mức model. Ranh giới thật là scopes gate: giả sử injection THẮNG và model phát ra đúng lệnh kẻ tấn công muốn, deliver_brief vẫn bị chặn vì brief:deliver tắt và địa chỉ không nằm trong ALLOWED_RECIPIENTS — cả hai đều không nằm trong context để model cãi. 14 payload test, mỗi test assert bị chặn ở một gate có tên.</a:t>
            </a:r>
            <a:endParaRPr lang="en-US" sz="900" dirty="0"/>
          </a:p>
        </p:txBody>
      </p:sp>
      <p:sp>
        <p:nvSpPr>
          <p:cNvPr id="8" name="Shape 6"/>
          <p:cNvSpPr/>
          <p:nvPr/>
        </p:nvSpPr>
        <p:spPr>
          <a:xfrm>
            <a:off x="548640" y="2331720"/>
            <a:ext cx="310896" cy="310896"/>
          </a:xfrm>
          <a:prstGeom prst="ellipse">
            <a:avLst/>
          </a:prstGeom>
          <a:solidFill>
            <a:srgbClr val="E0A33E"/>
          </a:solidFill>
          <a:ln w="12700">
            <a:solidFill>
              <a:srgbClr val="E0A33E"/>
            </a:solidFill>
            <a:prstDash val="solid"/>
          </a:ln>
        </p:spPr>
      </p:sp>
      <p:sp>
        <p:nvSpPr>
          <p:cNvPr id="9" name="Text 7"/>
          <p:cNvSpPr/>
          <p:nvPr/>
        </p:nvSpPr>
        <p:spPr>
          <a:xfrm>
            <a:off x="548640" y="2331720"/>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69264" y="2322576"/>
            <a:ext cx="6309360" cy="237744"/>
          </a:xfrm>
          <a:prstGeom prst="rect">
            <a:avLst/>
          </a:prstGeom>
          <a:noFill/>
          <a:ln/>
        </p:spPr>
        <p:txBody>
          <a:bodyPr wrap="square" lIns="0" tIns="0" rIns="0" bIns="0" rtlCol="0" anchor="ctr"/>
          <a:lstStyle/>
          <a:p>
            <a:pPr indent="0" marL="0">
              <a:buNone/>
            </a:pPr>
            <a:r>
              <a:rPr lang="en-US" sz="1150" b="1" dirty="0">
                <a:solidFill>
                  <a:srgbClr val="16263A"/>
                </a:solidFill>
                <a:latin typeface="Calibri" pitchFamily="34" charset="0"/>
                <a:ea typeface="Calibri" pitchFamily="34" charset="-122"/>
                <a:cs typeface="Calibri" pitchFamily="34" charset="-120"/>
              </a:rPr>
              <a:t>Hallucination</a:t>
            </a:r>
            <a:endParaRPr lang="en-US" sz="1150" dirty="0"/>
          </a:p>
        </p:txBody>
      </p:sp>
      <p:sp>
        <p:nvSpPr>
          <p:cNvPr id="11" name="Text 9"/>
          <p:cNvSpPr/>
          <p:nvPr/>
        </p:nvSpPr>
        <p:spPr>
          <a:xfrm>
            <a:off x="969264" y="2560320"/>
            <a:ext cx="6309360" cy="548640"/>
          </a:xfrm>
          <a:prstGeom prst="rect">
            <a:avLst/>
          </a:prstGeom>
          <a:noFill/>
          <a:ln/>
        </p:spPr>
        <p:txBody>
          <a:bodyPr wrap="square" lIns="0" tIns="0" rIns="0" bIns="0" rtlCol="0" anchor="ctr"/>
          <a:lstStyle/>
          <a:p>
            <a:pPr indent="0" marL="0">
              <a:lnSpc>
                <a:spcPct val="98000"/>
              </a:lnSpc>
              <a:buNone/>
            </a:pPr>
            <a:r>
              <a:rPr lang="en-US" sz="900" dirty="0">
                <a:solidFill>
                  <a:srgbClr val="3C4C60"/>
                </a:solidFill>
                <a:latin typeface="Calibri" pitchFamily="34" charset="0"/>
                <a:ea typeface="Calibri" pitchFamily="34" charset="-122"/>
                <a:cs typeface="Calibri" pitchFamily="34" charset="-120"/>
              </a:rPr>
              <a:t>Model bịa headcount, năm thành lập, và tệ nhất là bịa cuộc họp. Cách xử lý: bước brief KHÔNG chạy model — lắp bằng code nên test offline được; mỗi claim mang URL của trang đã đọc; claim không nguồn bị render “unverified” và đếm vào unknowns; talking points chỉ lấy từ claim có nguồn; “không có họp” và “không tra được” là hai câu trả lời khác nhau.</a:t>
            </a:r>
            <a:endParaRPr lang="en-US" sz="900" dirty="0"/>
          </a:p>
        </p:txBody>
      </p:sp>
      <p:sp>
        <p:nvSpPr>
          <p:cNvPr id="12" name="Shape 10"/>
          <p:cNvSpPr/>
          <p:nvPr/>
        </p:nvSpPr>
        <p:spPr>
          <a:xfrm>
            <a:off x="548640" y="3209544"/>
            <a:ext cx="310896" cy="310896"/>
          </a:xfrm>
          <a:prstGeom prst="ellipse">
            <a:avLst/>
          </a:prstGeom>
          <a:solidFill>
            <a:srgbClr val="2E7D8F"/>
          </a:solidFill>
          <a:ln w="12700">
            <a:solidFill>
              <a:srgbClr val="2E7D8F"/>
            </a:solidFill>
            <a:prstDash val="solid"/>
          </a:ln>
        </p:spPr>
      </p:sp>
      <p:sp>
        <p:nvSpPr>
          <p:cNvPr id="13" name="Text 11"/>
          <p:cNvSpPr/>
          <p:nvPr/>
        </p:nvSpPr>
        <p:spPr>
          <a:xfrm>
            <a:off x="548640" y="3209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9264" y="3200400"/>
            <a:ext cx="6309360" cy="237744"/>
          </a:xfrm>
          <a:prstGeom prst="rect">
            <a:avLst/>
          </a:prstGeom>
          <a:noFill/>
          <a:ln/>
        </p:spPr>
        <p:txBody>
          <a:bodyPr wrap="square" lIns="0" tIns="0" rIns="0" bIns="0" rtlCol="0" anchor="ctr"/>
          <a:lstStyle/>
          <a:p>
            <a:pPr indent="0" marL="0">
              <a:buNone/>
            </a:pPr>
            <a:r>
              <a:rPr lang="en-US" sz="1150" b="1" dirty="0">
                <a:solidFill>
                  <a:srgbClr val="16263A"/>
                </a:solidFill>
                <a:latin typeface="Calibri" pitchFamily="34" charset="0"/>
                <a:ea typeface="Calibri" pitchFamily="34" charset="-122"/>
                <a:cs typeface="Calibri" pitchFamily="34" charset="-120"/>
              </a:rPr>
              <a:t>Độ trễ &amp; chi phí</a:t>
            </a:r>
            <a:endParaRPr lang="en-US" sz="1150" dirty="0"/>
          </a:p>
        </p:txBody>
      </p:sp>
      <p:sp>
        <p:nvSpPr>
          <p:cNvPr id="15" name="Text 13"/>
          <p:cNvSpPr/>
          <p:nvPr/>
        </p:nvSpPr>
        <p:spPr>
          <a:xfrm>
            <a:off x="969264" y="3438144"/>
            <a:ext cx="6309360" cy="402336"/>
          </a:xfrm>
          <a:prstGeom prst="rect">
            <a:avLst/>
          </a:prstGeom>
          <a:noFill/>
          <a:ln/>
        </p:spPr>
        <p:txBody>
          <a:bodyPr wrap="square" lIns="0" tIns="0" rIns="0" bIns="0" rtlCol="0" anchor="ctr"/>
          <a:lstStyle/>
          <a:p>
            <a:pPr indent="0" marL="0">
              <a:lnSpc>
                <a:spcPct val="98000"/>
              </a:lnSpc>
              <a:buNone/>
            </a:pPr>
            <a:r>
              <a:rPr lang="en-US" sz="900" dirty="0">
                <a:solidFill>
                  <a:srgbClr val="3C4C60"/>
                </a:solidFill>
                <a:latin typeface="Calibri" pitchFamily="34" charset="0"/>
                <a:ea typeface="Calibri" pitchFamily="34" charset="-122"/>
                <a:cs typeface="Calibri" pitchFamily="34" charset="-120"/>
              </a:rPr>
              <a:t>Research chạy tuần tự, một công ty mỗi lần. Ở default, một scan ra 10 công ty mới mất gần một tiếng. Hạ effort medium → low: nhanh 4× và chỉ mất 0.03 confidence (0.78 → 0.75) — bản kỹ hơn cũng không tìm thêm được headcount hay năm thành lập.</a:t>
            </a:r>
            <a:endParaRPr lang="en-US" sz="900" dirty="0"/>
          </a:p>
        </p:txBody>
      </p:sp>
      <p:sp>
        <p:nvSpPr>
          <p:cNvPr id="16" name="Shape 14"/>
          <p:cNvSpPr/>
          <p:nvPr/>
        </p:nvSpPr>
        <p:spPr>
          <a:xfrm>
            <a:off x="548640" y="3941064"/>
            <a:ext cx="310896" cy="310896"/>
          </a:xfrm>
          <a:prstGeom prst="ellipse">
            <a:avLst/>
          </a:prstGeom>
          <a:solidFill>
            <a:srgbClr val="2E7D8F"/>
          </a:solidFill>
          <a:ln w="12700">
            <a:solidFill>
              <a:srgbClr val="2E7D8F"/>
            </a:solidFill>
            <a:prstDash val="solid"/>
          </a:ln>
        </p:spPr>
      </p:sp>
      <p:sp>
        <p:nvSpPr>
          <p:cNvPr id="17" name="Text 15"/>
          <p:cNvSpPr/>
          <p:nvPr/>
        </p:nvSpPr>
        <p:spPr>
          <a:xfrm>
            <a:off x="548640" y="39410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969264" y="3931920"/>
            <a:ext cx="6309360" cy="237744"/>
          </a:xfrm>
          <a:prstGeom prst="rect">
            <a:avLst/>
          </a:prstGeom>
          <a:noFill/>
          <a:ln/>
        </p:spPr>
        <p:txBody>
          <a:bodyPr wrap="square" lIns="0" tIns="0" rIns="0" bIns="0" rtlCol="0" anchor="ctr"/>
          <a:lstStyle/>
          <a:p>
            <a:pPr indent="0" marL="0">
              <a:buNone/>
            </a:pPr>
            <a:r>
              <a:rPr lang="en-US" sz="1150" b="1" dirty="0">
                <a:solidFill>
                  <a:srgbClr val="16263A"/>
                </a:solidFill>
                <a:latin typeface="Calibri" pitchFamily="34" charset="0"/>
                <a:ea typeface="Calibri" pitchFamily="34" charset="-122"/>
                <a:cs typeface="Calibri" pitchFamily="34" charset="-120"/>
              </a:rPr>
              <a:t>Quản lý context &amp; tool calling</a:t>
            </a:r>
            <a:endParaRPr lang="en-US" sz="1150" dirty="0"/>
          </a:p>
        </p:txBody>
      </p:sp>
      <p:sp>
        <p:nvSpPr>
          <p:cNvPr id="19" name="Text 17"/>
          <p:cNvSpPr/>
          <p:nvPr/>
        </p:nvSpPr>
        <p:spPr>
          <a:xfrm>
            <a:off x="969264" y="4169664"/>
            <a:ext cx="6309360" cy="329184"/>
          </a:xfrm>
          <a:prstGeom prst="rect">
            <a:avLst/>
          </a:prstGeom>
          <a:noFill/>
          <a:ln/>
        </p:spPr>
        <p:txBody>
          <a:bodyPr wrap="square" lIns="0" tIns="0" rIns="0" bIns="0" rtlCol="0" anchor="ctr"/>
          <a:lstStyle/>
          <a:p>
            <a:pPr indent="0" marL="0">
              <a:lnSpc>
                <a:spcPct val="98000"/>
              </a:lnSpc>
              <a:buNone/>
            </a:pPr>
            <a:r>
              <a:rPr lang="en-US" sz="900" dirty="0">
                <a:solidFill>
                  <a:srgbClr val="3C4C60"/>
                </a:solidFill>
                <a:latin typeface="Calibri" pitchFamily="34" charset="0"/>
                <a:ea typeface="Calibri" pitchFamily="34" charset="-122"/>
                <a:cs typeface="Calibri" pitchFamily="34" charset="-120"/>
              </a:rPr>
              <a:t>Context mặc định của Ollama quá nhỏ cho một batch kèm schema, và nó cắt phần tràn trong im lặng → phải ép OLLAMA_NUM_CTX=16384, batch 10 trên hosted nhưng 4 trên local.</a:t>
            </a:r>
            <a:endParaRPr lang="en-US" sz="900" dirty="0"/>
          </a:p>
        </p:txBody>
      </p:sp>
      <p:sp>
        <p:nvSpPr>
          <p:cNvPr id="20" name="Shape 18"/>
          <p:cNvSpPr/>
          <p:nvPr/>
        </p:nvSpPr>
        <p:spPr>
          <a:xfrm>
            <a:off x="548640" y="4599432"/>
            <a:ext cx="310896" cy="310896"/>
          </a:xfrm>
          <a:prstGeom prst="ellipse">
            <a:avLst/>
          </a:prstGeom>
          <a:solidFill>
            <a:srgbClr val="B4453C"/>
          </a:solidFill>
          <a:ln w="12700">
            <a:solidFill>
              <a:srgbClr val="B4453C"/>
            </a:solidFill>
            <a:prstDash val="solid"/>
          </a:ln>
        </p:spPr>
      </p:sp>
      <p:sp>
        <p:nvSpPr>
          <p:cNvPr id="21" name="Text 19"/>
          <p:cNvSpPr/>
          <p:nvPr/>
        </p:nvSpPr>
        <p:spPr>
          <a:xfrm>
            <a:off x="548640" y="45994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969264" y="4590288"/>
            <a:ext cx="6309360" cy="237744"/>
          </a:xfrm>
          <a:prstGeom prst="rect">
            <a:avLst/>
          </a:prstGeom>
          <a:noFill/>
          <a:ln/>
        </p:spPr>
        <p:txBody>
          <a:bodyPr wrap="square" lIns="0" tIns="0" rIns="0" bIns="0" rtlCol="0" anchor="ctr"/>
          <a:lstStyle/>
          <a:p>
            <a:pPr indent="0" marL="0">
              <a:buNone/>
            </a:pPr>
            <a:r>
              <a:rPr lang="en-US" sz="1150" b="1" dirty="0">
                <a:solidFill>
                  <a:srgbClr val="16263A"/>
                </a:solidFill>
                <a:latin typeface="Calibri" pitchFamily="34" charset="0"/>
                <a:ea typeface="Calibri" pitchFamily="34" charset="-122"/>
                <a:cs typeface="Calibri" pitchFamily="34" charset="-120"/>
              </a:rPr>
              <a:t>Model local chưa dùng được</a:t>
            </a:r>
            <a:endParaRPr lang="en-US" sz="1150" dirty="0"/>
          </a:p>
        </p:txBody>
      </p:sp>
      <p:sp>
        <p:nvSpPr>
          <p:cNvPr id="23" name="Text 21"/>
          <p:cNvSpPr/>
          <p:nvPr/>
        </p:nvSpPr>
        <p:spPr>
          <a:xfrm>
            <a:off x="969264" y="4828032"/>
            <a:ext cx="6309360" cy="548640"/>
          </a:xfrm>
          <a:prstGeom prst="rect">
            <a:avLst/>
          </a:prstGeom>
          <a:noFill/>
          <a:ln/>
        </p:spPr>
        <p:txBody>
          <a:bodyPr wrap="square" lIns="0" tIns="0" rIns="0" bIns="0" rtlCol="0" anchor="ctr"/>
          <a:lstStyle/>
          <a:p>
            <a:pPr indent="0" marL="0">
              <a:lnSpc>
                <a:spcPct val="98000"/>
              </a:lnSpc>
              <a:buNone/>
            </a:pPr>
            <a:r>
              <a:rPr lang="en-US" sz="900" dirty="0">
                <a:solidFill>
                  <a:srgbClr val="3C4C60"/>
                </a:solidFill>
                <a:latin typeface="Calibri" pitchFamily="34" charset="0"/>
                <a:ea typeface="Calibri" pitchFamily="34" charset="-122"/>
                <a:cs typeface="Calibri" pitchFamily="34" charset="-120"/>
              </a:rPr>
              <a:t>qwen3-coder 30B gán nhãn biên lai ngân hàng là “customer” với confidence 0.95; cùng một người gửi ra 3 nhãn khác nhau qua 3 batch; mail tiếng Anh bị trả lời bằng tiếng Việt trái lệnh prompt. Sai mà tự tin là failure mode tệ nhất, vì confidence chính là thứ bước sau tin.</a:t>
            </a:r>
            <a:endParaRPr lang="en-US" sz="900" dirty="0"/>
          </a:p>
        </p:txBody>
      </p:sp>
      <p:sp>
        <p:nvSpPr>
          <p:cNvPr id="24" name="Shape 22"/>
          <p:cNvSpPr/>
          <p:nvPr/>
        </p:nvSpPr>
        <p:spPr>
          <a:xfrm>
            <a:off x="548640" y="5477256"/>
            <a:ext cx="310896" cy="310896"/>
          </a:xfrm>
          <a:prstGeom prst="ellipse">
            <a:avLst/>
          </a:prstGeom>
          <a:solidFill>
            <a:srgbClr val="E0A33E"/>
          </a:solidFill>
          <a:ln w="12700">
            <a:solidFill>
              <a:srgbClr val="E0A33E"/>
            </a:solidFill>
            <a:prstDash val="solid"/>
          </a:ln>
        </p:spPr>
      </p:sp>
      <p:sp>
        <p:nvSpPr>
          <p:cNvPr id="25" name="Text 23"/>
          <p:cNvSpPr/>
          <p:nvPr/>
        </p:nvSpPr>
        <p:spPr>
          <a:xfrm>
            <a:off x="548640" y="5477256"/>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6</a:t>
            </a:r>
            <a:endParaRPr lang="en-US" sz="1200" dirty="0"/>
          </a:p>
        </p:txBody>
      </p:sp>
      <p:sp>
        <p:nvSpPr>
          <p:cNvPr id="26" name="Text 24"/>
          <p:cNvSpPr/>
          <p:nvPr/>
        </p:nvSpPr>
        <p:spPr>
          <a:xfrm>
            <a:off x="969264" y="5468112"/>
            <a:ext cx="6309360" cy="237744"/>
          </a:xfrm>
          <a:prstGeom prst="rect">
            <a:avLst/>
          </a:prstGeom>
          <a:noFill/>
          <a:ln/>
        </p:spPr>
        <p:txBody>
          <a:bodyPr wrap="square" lIns="0" tIns="0" rIns="0" bIns="0" rtlCol="0" anchor="ctr"/>
          <a:lstStyle/>
          <a:p>
            <a:pPr indent="0" marL="0">
              <a:buNone/>
            </a:pPr>
            <a:r>
              <a:rPr lang="en-US" sz="1150" b="1" dirty="0">
                <a:solidFill>
                  <a:srgbClr val="16263A"/>
                </a:solidFill>
                <a:latin typeface="Calibri" pitchFamily="34" charset="0"/>
                <a:ea typeface="Calibri" pitchFamily="34" charset="-122"/>
                <a:cs typeface="Calibri" pitchFamily="34" charset="-120"/>
              </a:rPr>
              <a:t>Tích hợp API &amp; dữ liệu</a:t>
            </a:r>
            <a:endParaRPr lang="en-US" sz="1150" dirty="0"/>
          </a:p>
        </p:txBody>
      </p:sp>
      <p:sp>
        <p:nvSpPr>
          <p:cNvPr id="27" name="Text 25"/>
          <p:cNvSpPr/>
          <p:nvPr/>
        </p:nvSpPr>
        <p:spPr>
          <a:xfrm>
            <a:off x="969264" y="5705856"/>
            <a:ext cx="6309360" cy="548640"/>
          </a:xfrm>
          <a:prstGeom prst="rect">
            <a:avLst/>
          </a:prstGeom>
          <a:noFill/>
          <a:ln/>
        </p:spPr>
        <p:txBody>
          <a:bodyPr wrap="square" lIns="0" tIns="0" rIns="0" bIns="0" rtlCol="0" anchor="ctr"/>
          <a:lstStyle/>
          <a:p>
            <a:pPr indent="0" marL="0">
              <a:lnSpc>
                <a:spcPct val="98000"/>
              </a:lnSpc>
              <a:buNone/>
            </a:pPr>
            <a:r>
              <a:rPr lang="en-US" sz="900" dirty="0">
                <a:solidFill>
                  <a:srgbClr val="3C4C60"/>
                </a:solidFill>
                <a:latin typeface="Calibri" pitchFamily="34" charset="0"/>
                <a:ea typeface="Calibri" pitchFamily="34" charset="-122"/>
                <a:cs typeface="Calibri" pitchFamily="34" charset="-120"/>
              </a:rPr>
              <a:t>Ba provider mail khác nhau → Protocol + factory. Secret là reference (env: / file:) chứ không phải literal, để accounts.json vào được config map. Bẫy đã trả giá: seed dừng ở 1.000 message/folder trên inbox 192.000 nên under-seed thầm lặng; --dry-run cố ý bỏ mark_processed nên phá dedup.</a:t>
            </a:r>
            <a:endParaRPr lang="en-US" sz="900" dirty="0"/>
          </a:p>
        </p:txBody>
      </p:sp>
      <p:sp>
        <p:nvSpPr>
          <p:cNvPr id="28" name="Shape 26"/>
          <p:cNvSpPr/>
          <p:nvPr/>
        </p:nvSpPr>
        <p:spPr>
          <a:xfrm>
            <a:off x="7543800" y="1298448"/>
            <a:ext cx="4096512" cy="2788920"/>
          </a:xfrm>
          <a:prstGeom prst="roundRect">
            <a:avLst>
              <a:gd name="adj" fmla="val 196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29" name="Text 27"/>
          <p:cNvSpPr/>
          <p:nvPr/>
        </p:nvSpPr>
        <p:spPr>
          <a:xfrm>
            <a:off x="7772400" y="1417320"/>
            <a:ext cx="3657600" cy="256032"/>
          </a:xfrm>
          <a:prstGeom prst="rect">
            <a:avLst/>
          </a:prstGeom>
          <a:noFill/>
          <a:ln/>
        </p:spPr>
        <p:txBody>
          <a:bodyPr wrap="square" lIns="0" tIns="0" rIns="0" bIns="0" rtlCol="0" anchor="ctr"/>
          <a:lstStyle/>
          <a:p>
            <a:pPr indent="0" marL="0">
              <a:buNone/>
            </a:pPr>
            <a:r>
              <a:rPr lang="en-US" sz="1050" b="1" dirty="0">
                <a:solidFill>
                  <a:srgbClr val="16263A"/>
                </a:solidFill>
                <a:latin typeface="Calibri" pitchFamily="34" charset="0"/>
                <a:ea typeface="Calibri" pitchFamily="34" charset="-122"/>
                <a:cs typeface="Calibri" pitchFamily="34" charset="-120"/>
              </a:rPr>
              <a:t>ĐỘ TRỄ ĐO ĐƯỢC — giây, thang log</a:t>
            </a:r>
            <a:endParaRPr lang="en-US" sz="1050" dirty="0"/>
          </a:p>
        </p:txBody>
      </p:sp>
      <p:graphicFrame>
        <p:nvGraphicFramePr>
          <p:cNvPr id="30" name="Chart 0" descr=""/>
          <p:cNvGraphicFramePr/>
          <p:nvPr/>
        </p:nvGraphicFramePr>
        <p:xfrm>
          <a:off x="7635240" y="1691640"/>
          <a:ext cx="3913632" cy="228600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7543800" y="4187952"/>
            <a:ext cx="4096512" cy="2176272"/>
          </a:xfrm>
          <a:prstGeom prst="roundRect">
            <a:avLst>
              <a:gd name="adj" fmla="val 2521"/>
            </a:avLst>
          </a:prstGeom>
          <a:solidFill>
            <a:srgbClr val="0F1E33"/>
          </a:solidFill>
          <a:ln w="12700">
            <a:solidFill>
              <a:srgbClr val="0F1E33"/>
            </a:solidFill>
            <a:prstDash val="solid"/>
          </a:ln>
        </p:spPr>
      </p:sp>
      <p:sp>
        <p:nvSpPr>
          <p:cNvPr id="32" name="Text 29"/>
          <p:cNvSpPr/>
          <p:nvPr/>
        </p:nvSpPr>
        <p:spPr>
          <a:xfrm>
            <a:off x="7772400" y="4315968"/>
            <a:ext cx="3657600" cy="256032"/>
          </a:xfrm>
          <a:prstGeom prst="rect">
            <a:avLst/>
          </a:prstGeom>
          <a:noFill/>
          <a:ln/>
        </p:spPr>
        <p:txBody>
          <a:bodyPr wrap="square" lIns="0" tIns="0" rIns="0" bIns="0" rtlCol="0" anchor="ctr"/>
          <a:lstStyle/>
          <a:p>
            <a:pPr indent="0" marL="0">
              <a:buNone/>
            </a:pPr>
            <a:r>
              <a:rPr lang="en-US" sz="1000" b="1" dirty="0">
                <a:solidFill>
                  <a:srgbClr val="E0A33E"/>
                </a:solidFill>
                <a:latin typeface="Calibri" pitchFamily="34" charset="0"/>
                <a:ea typeface="Calibri" pitchFamily="34" charset="-122"/>
                <a:cs typeface="Calibri" pitchFamily="34" charset="-120"/>
              </a:rPr>
              <a:t>MỘT CON SỐ ĐỂ NHỚ</a:t>
            </a:r>
            <a:endParaRPr lang="en-US" sz="1000" dirty="0"/>
          </a:p>
        </p:txBody>
      </p:sp>
      <p:sp>
        <p:nvSpPr>
          <p:cNvPr id="33" name="Text 30"/>
          <p:cNvSpPr/>
          <p:nvPr/>
        </p:nvSpPr>
        <p:spPr>
          <a:xfrm>
            <a:off x="7772400" y="4572000"/>
            <a:ext cx="3657600" cy="7772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30/30</a:t>
            </a:r>
            <a:endParaRPr lang="en-US" sz="5400" dirty="0"/>
          </a:p>
        </p:txBody>
      </p:sp>
      <p:sp>
        <p:nvSpPr>
          <p:cNvPr id="34" name="Text 31"/>
          <p:cNvSpPr/>
          <p:nvPr/>
        </p:nvSpPr>
        <p:spPr>
          <a:xfrm>
            <a:off x="7772400" y="5321808"/>
            <a:ext cx="3657600" cy="914400"/>
          </a:xfrm>
          <a:prstGeom prst="rect">
            <a:avLst/>
          </a:prstGeom>
          <a:noFill/>
          <a:ln/>
        </p:spPr>
        <p:txBody>
          <a:bodyPr wrap="square" lIns="0" tIns="0" rIns="0" bIns="0" rtlCol="0" anchor="ctr"/>
          <a:lstStyle/>
          <a:p>
            <a:pPr indent="0" marL="0">
              <a:lnSpc>
                <a:spcPct val="105000"/>
              </a:lnSpc>
              <a:buNone/>
            </a:pPr>
            <a:r>
              <a:rPr lang="en-US" sz="950" dirty="0">
                <a:solidFill>
                  <a:srgbClr val="B3C5DB"/>
                </a:solidFill>
                <a:latin typeface="Calibri" pitchFamily="34" charset="0"/>
                <a:ea typeface="Calibri" pitchFamily="34" charset="-122"/>
                <a:cs typeface="Calibri" pitchFamily="34" charset="-120"/>
              </a:rPr>
              <a:t>message bị bộ lọc quyết định chặn trước khi bất kỳ model nào chạy (và 20/20 ở cửa sổ scan kế tiếp). Volume thật của model thấp hơn nhiều so với kích thước inbox — điều đó quyết định cả chi phí lẫn quyền riêng tư.</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84048"/>
            <a:ext cx="6400800" cy="548640"/>
          </a:xfrm>
          <a:prstGeom prst="rect">
            <a:avLst/>
          </a:prstGeom>
          <a:noFill/>
          <a:ln/>
        </p:spPr>
        <p:txBody>
          <a:bodyPr wrap="square" lIns="0" tIns="0" rIns="0" bIns="0" rtlCol="0" anchor="ctr"/>
          <a:lstStyle/>
          <a:p>
            <a:pPr indent="0" marL="0">
              <a:buNone/>
            </a:pPr>
            <a:r>
              <a:rPr lang="en-US" sz="3200" b="1" dirty="0">
                <a:solidFill>
                  <a:srgbClr val="16263A"/>
                </a:solidFill>
                <a:latin typeface="Cambria" pitchFamily="34" charset="0"/>
                <a:ea typeface="Cambria" pitchFamily="34" charset="-122"/>
                <a:cs typeface="Cambria" pitchFamily="34" charset="-120"/>
              </a:rPr>
              <a:t>Hướng cải thiện</a:t>
            </a:r>
            <a:endParaRPr lang="en-US" sz="3200" dirty="0"/>
          </a:p>
        </p:txBody>
      </p:sp>
      <p:sp>
        <p:nvSpPr>
          <p:cNvPr id="3" name="Text 1"/>
          <p:cNvSpPr/>
          <p:nvPr/>
        </p:nvSpPr>
        <p:spPr>
          <a:xfrm>
            <a:off x="5486400" y="548640"/>
            <a:ext cx="6153912" cy="365760"/>
          </a:xfrm>
          <a:prstGeom prst="rect">
            <a:avLst/>
          </a:prstGeom>
          <a:noFill/>
          <a:ln/>
        </p:spPr>
        <p:txBody>
          <a:bodyPr wrap="square" lIns="0" tIns="0" rIns="0" bIns="0" rtlCol="0" anchor="ctr"/>
          <a:lstStyle/>
          <a:p>
            <a:pPr algn="r" indent="0" marL="0">
              <a:buNone/>
            </a:pPr>
            <a:r>
              <a:rPr lang="en-US" sz="1150" dirty="0">
                <a:solidFill>
                  <a:srgbClr val="5F718A"/>
                </a:solidFill>
                <a:latin typeface="Calibri" pitchFamily="34" charset="0"/>
                <a:ea typeface="Calibri" pitchFamily="34" charset="-122"/>
                <a:cs typeface="Calibri" pitchFamily="34" charset="-120"/>
              </a:rPr>
              <a:t>Điểm xuất phát: eval 30 fixture — 10 lead · 10 hard · 7 negative · 3 injection</a:t>
            </a:r>
            <a:endParaRPr lang="en-US" sz="1150" dirty="0"/>
          </a:p>
        </p:txBody>
      </p:sp>
      <p:sp>
        <p:nvSpPr>
          <p:cNvPr id="4" name="Shape 2"/>
          <p:cNvSpPr/>
          <p:nvPr/>
        </p:nvSpPr>
        <p:spPr>
          <a:xfrm>
            <a:off x="548640" y="1207008"/>
            <a:ext cx="2560320" cy="1024128"/>
          </a:xfrm>
          <a:prstGeom prst="roundRect">
            <a:avLst>
              <a:gd name="adj" fmla="val 535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5" name="Text 3"/>
          <p:cNvSpPr/>
          <p:nvPr/>
        </p:nvSpPr>
        <p:spPr>
          <a:xfrm>
            <a:off x="731520" y="1280160"/>
            <a:ext cx="2194560" cy="502920"/>
          </a:xfrm>
          <a:prstGeom prst="rect">
            <a:avLst/>
          </a:prstGeom>
          <a:noFill/>
          <a:ln/>
        </p:spPr>
        <p:txBody>
          <a:bodyPr wrap="square" lIns="0" tIns="0" rIns="0" bIns="0" rtlCol="0" anchor="ctr"/>
          <a:lstStyle/>
          <a:p>
            <a:pPr indent="0" marL="0">
              <a:buNone/>
            </a:pPr>
            <a:r>
              <a:rPr lang="en-US" sz="3000" b="1" dirty="0">
                <a:solidFill>
                  <a:srgbClr val="2E7D8F"/>
                </a:solidFill>
                <a:latin typeface="Cambria" pitchFamily="34" charset="0"/>
                <a:ea typeface="Cambria" pitchFamily="34" charset="-122"/>
                <a:cs typeface="Cambria" pitchFamily="34" charset="-120"/>
              </a:rPr>
              <a:t>0 / 7</a:t>
            </a:r>
            <a:endParaRPr lang="en-US" sz="3000" dirty="0"/>
          </a:p>
        </p:txBody>
      </p:sp>
      <p:sp>
        <p:nvSpPr>
          <p:cNvPr id="6" name="Text 4"/>
          <p:cNvSpPr/>
          <p:nvPr/>
        </p:nvSpPr>
        <p:spPr>
          <a:xfrm>
            <a:off x="731520" y="1783080"/>
            <a:ext cx="2194560" cy="384048"/>
          </a:xfrm>
          <a:prstGeom prst="rect">
            <a:avLst/>
          </a:prstGeom>
          <a:noFill/>
          <a:ln/>
        </p:spPr>
        <p:txBody>
          <a:bodyPr wrap="square" lIns="0" tIns="0" rIns="0" bIns="0" rtlCol="0" anchor="ctr"/>
          <a:lstStyle/>
          <a:p>
            <a:pPr indent="0" marL="0">
              <a:buNone/>
            </a:pPr>
            <a:r>
              <a:rPr lang="en-US" sz="900" dirty="0">
                <a:solidFill>
                  <a:srgbClr val="5F718A"/>
                </a:solidFill>
                <a:latin typeface="Calibri" pitchFamily="34" charset="0"/>
                <a:ea typeface="Calibri" pitchFamily="34" charset="-122"/>
                <a:cs typeface="Calibri" pitchFamily="34" charset="-120"/>
              </a:rPr>
              <a:t>false positive ở lớp negative</a:t>
            </a:r>
            <a:endParaRPr lang="en-US" sz="900" dirty="0"/>
          </a:p>
        </p:txBody>
      </p:sp>
      <p:sp>
        <p:nvSpPr>
          <p:cNvPr id="7" name="Shape 5"/>
          <p:cNvSpPr/>
          <p:nvPr/>
        </p:nvSpPr>
        <p:spPr>
          <a:xfrm>
            <a:off x="3383280" y="1207008"/>
            <a:ext cx="2560320" cy="1024128"/>
          </a:xfrm>
          <a:prstGeom prst="roundRect">
            <a:avLst>
              <a:gd name="adj" fmla="val 535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8" name="Text 6"/>
          <p:cNvSpPr/>
          <p:nvPr/>
        </p:nvSpPr>
        <p:spPr>
          <a:xfrm>
            <a:off x="3566160" y="1280160"/>
            <a:ext cx="2194560" cy="502920"/>
          </a:xfrm>
          <a:prstGeom prst="rect">
            <a:avLst/>
          </a:prstGeom>
          <a:noFill/>
          <a:ln/>
        </p:spPr>
        <p:txBody>
          <a:bodyPr wrap="square" lIns="0" tIns="0" rIns="0" bIns="0" rtlCol="0" anchor="ctr"/>
          <a:lstStyle/>
          <a:p>
            <a:pPr indent="0" marL="0">
              <a:buNone/>
            </a:pPr>
            <a:r>
              <a:rPr lang="en-US" sz="3000" b="1" dirty="0">
                <a:solidFill>
                  <a:srgbClr val="2E7D8F"/>
                </a:solidFill>
                <a:latin typeface="Cambria" pitchFamily="34" charset="0"/>
                <a:ea typeface="Cambria" pitchFamily="34" charset="-122"/>
                <a:cs typeface="Cambria" pitchFamily="34" charset="-120"/>
              </a:rPr>
              <a:t>1.00</a:t>
            </a:r>
            <a:endParaRPr lang="en-US" sz="3000" dirty="0"/>
          </a:p>
        </p:txBody>
      </p:sp>
      <p:sp>
        <p:nvSpPr>
          <p:cNvPr id="9" name="Text 7"/>
          <p:cNvSpPr/>
          <p:nvPr/>
        </p:nvSpPr>
        <p:spPr>
          <a:xfrm>
            <a:off x="3566160" y="1783080"/>
            <a:ext cx="2194560" cy="384048"/>
          </a:xfrm>
          <a:prstGeom prst="rect">
            <a:avLst/>
          </a:prstGeom>
          <a:noFill/>
          <a:ln/>
        </p:spPr>
        <p:txBody>
          <a:bodyPr wrap="square" lIns="0" tIns="0" rIns="0" bIns="0" rtlCol="0" anchor="ctr"/>
          <a:lstStyle/>
          <a:p>
            <a:pPr indent="0" marL="0">
              <a:buNone/>
            </a:pPr>
            <a:r>
              <a:rPr lang="en-US" sz="900" dirty="0">
                <a:solidFill>
                  <a:srgbClr val="5F718A"/>
                </a:solidFill>
                <a:latin typeface="Calibri" pitchFamily="34" charset="0"/>
                <a:ea typeface="Calibri" pitchFamily="34" charset="-122"/>
                <a:cs typeface="Calibri" pitchFamily="34" charset="-120"/>
              </a:rPr>
              <a:t>domain · contact · company name</a:t>
            </a:r>
            <a:endParaRPr lang="en-US" sz="900" dirty="0"/>
          </a:p>
        </p:txBody>
      </p:sp>
      <p:sp>
        <p:nvSpPr>
          <p:cNvPr id="10" name="Shape 8"/>
          <p:cNvSpPr/>
          <p:nvPr/>
        </p:nvSpPr>
        <p:spPr>
          <a:xfrm>
            <a:off x="6217920" y="1207008"/>
            <a:ext cx="2560320" cy="1024128"/>
          </a:xfrm>
          <a:prstGeom prst="roundRect">
            <a:avLst>
              <a:gd name="adj" fmla="val 535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11" name="Text 9"/>
          <p:cNvSpPr/>
          <p:nvPr/>
        </p:nvSpPr>
        <p:spPr>
          <a:xfrm>
            <a:off x="6400800" y="1280160"/>
            <a:ext cx="2194560" cy="502920"/>
          </a:xfrm>
          <a:prstGeom prst="rect">
            <a:avLst/>
          </a:prstGeom>
          <a:noFill/>
          <a:ln/>
        </p:spPr>
        <p:txBody>
          <a:bodyPr wrap="square" lIns="0" tIns="0" rIns="0" bIns="0" rtlCol="0" anchor="ctr"/>
          <a:lstStyle/>
          <a:p>
            <a:pPr indent="0" marL="0">
              <a:buNone/>
            </a:pPr>
            <a:r>
              <a:rPr lang="en-US" sz="3000" b="1" dirty="0">
                <a:solidFill>
                  <a:srgbClr val="B4453C"/>
                </a:solidFill>
                <a:latin typeface="Cambria" pitchFamily="34" charset="0"/>
                <a:ea typeface="Cambria" pitchFamily="34" charset="-122"/>
                <a:cs typeface="Cambria" pitchFamily="34" charset="-120"/>
              </a:rPr>
              <a:t>0.80</a:t>
            </a:r>
            <a:endParaRPr lang="en-US" sz="3000" dirty="0"/>
          </a:p>
        </p:txBody>
      </p:sp>
      <p:sp>
        <p:nvSpPr>
          <p:cNvPr id="12" name="Text 10"/>
          <p:cNvSpPr/>
          <p:nvPr/>
        </p:nvSpPr>
        <p:spPr>
          <a:xfrm>
            <a:off x="6400800" y="1783080"/>
            <a:ext cx="2194560" cy="384048"/>
          </a:xfrm>
          <a:prstGeom prst="rect">
            <a:avLst/>
          </a:prstGeom>
          <a:noFill/>
          <a:ln/>
        </p:spPr>
        <p:txBody>
          <a:bodyPr wrap="square" lIns="0" tIns="0" rIns="0" bIns="0" rtlCol="0" anchor="ctr"/>
          <a:lstStyle/>
          <a:p>
            <a:pPr indent="0" marL="0">
              <a:buNone/>
            </a:pPr>
            <a:r>
              <a:rPr lang="en-US" sz="900" dirty="0">
                <a:solidFill>
                  <a:srgbClr val="5F718A"/>
                </a:solidFill>
                <a:latin typeface="Calibri" pitchFamily="34" charset="0"/>
                <a:ea typeface="Calibri" pitchFamily="34" charset="-122"/>
                <a:cs typeface="Calibri" pitchFamily="34" charset="-120"/>
              </a:rPr>
              <a:t>should_research ở lớp lead — chỗ yếu nhất</a:t>
            </a:r>
            <a:endParaRPr lang="en-US" sz="900" dirty="0"/>
          </a:p>
        </p:txBody>
      </p:sp>
      <p:sp>
        <p:nvSpPr>
          <p:cNvPr id="13" name="Shape 11"/>
          <p:cNvSpPr/>
          <p:nvPr/>
        </p:nvSpPr>
        <p:spPr>
          <a:xfrm>
            <a:off x="9052560" y="1207008"/>
            <a:ext cx="2560320" cy="1024128"/>
          </a:xfrm>
          <a:prstGeom prst="roundRect">
            <a:avLst>
              <a:gd name="adj" fmla="val 535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14" name="Text 12"/>
          <p:cNvSpPr/>
          <p:nvPr/>
        </p:nvSpPr>
        <p:spPr>
          <a:xfrm>
            <a:off x="9235440" y="1280160"/>
            <a:ext cx="2194560" cy="502920"/>
          </a:xfrm>
          <a:prstGeom prst="rect">
            <a:avLst/>
          </a:prstGeom>
          <a:noFill/>
          <a:ln/>
        </p:spPr>
        <p:txBody>
          <a:bodyPr wrap="square" lIns="0" tIns="0" rIns="0" bIns="0" rtlCol="0" anchor="ctr"/>
          <a:lstStyle/>
          <a:p>
            <a:pPr indent="0" marL="0">
              <a:buNone/>
            </a:pPr>
            <a:r>
              <a:rPr lang="en-US" sz="3000" b="1" dirty="0">
                <a:solidFill>
                  <a:srgbClr val="2E7D8F"/>
                </a:solidFill>
                <a:latin typeface="Cambria" pitchFamily="34" charset="0"/>
                <a:ea typeface="Cambria" pitchFamily="34" charset="-122"/>
                <a:cs typeface="Cambria" pitchFamily="34" charset="-120"/>
              </a:rPr>
              <a:t>3 / 3</a:t>
            </a:r>
            <a:endParaRPr lang="en-US" sz="3000" dirty="0"/>
          </a:p>
        </p:txBody>
      </p:sp>
      <p:sp>
        <p:nvSpPr>
          <p:cNvPr id="15" name="Text 13"/>
          <p:cNvSpPr/>
          <p:nvPr/>
        </p:nvSpPr>
        <p:spPr>
          <a:xfrm>
            <a:off x="9235440" y="1783080"/>
            <a:ext cx="2194560" cy="384048"/>
          </a:xfrm>
          <a:prstGeom prst="rect">
            <a:avLst/>
          </a:prstGeom>
          <a:noFill/>
          <a:ln/>
        </p:spPr>
        <p:txBody>
          <a:bodyPr wrap="square" lIns="0" tIns="0" rIns="0" bIns="0" rtlCol="0" anchor="ctr"/>
          <a:lstStyle/>
          <a:p>
            <a:pPr indent="0" marL="0">
              <a:buNone/>
            </a:pPr>
            <a:r>
              <a:rPr lang="en-US" sz="900" dirty="0">
                <a:solidFill>
                  <a:srgbClr val="5F718A"/>
                </a:solidFill>
                <a:latin typeface="Calibri" pitchFamily="34" charset="0"/>
                <a:ea typeface="Calibri" pitchFamily="34" charset="-122"/>
                <a:cs typeface="Calibri" pitchFamily="34" charset="-120"/>
              </a:rPr>
              <a:t>injection vẫn phân loại đúng</a:t>
            </a:r>
            <a:endParaRPr lang="en-US" sz="900" dirty="0"/>
          </a:p>
        </p:txBody>
      </p:sp>
      <p:sp>
        <p:nvSpPr>
          <p:cNvPr id="16" name="Shape 14"/>
          <p:cNvSpPr/>
          <p:nvPr/>
        </p:nvSpPr>
        <p:spPr>
          <a:xfrm>
            <a:off x="548640" y="2450592"/>
            <a:ext cx="3566160" cy="1783080"/>
          </a:xfrm>
          <a:prstGeom prst="roundRect">
            <a:avLst>
              <a:gd name="adj" fmla="val 307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17" name="Shape 15"/>
          <p:cNvSpPr/>
          <p:nvPr/>
        </p:nvSpPr>
        <p:spPr>
          <a:xfrm>
            <a:off x="749808" y="2615184"/>
            <a:ext cx="310896" cy="310896"/>
          </a:xfrm>
          <a:prstGeom prst="ellipse">
            <a:avLst/>
          </a:prstGeom>
          <a:solidFill>
            <a:srgbClr val="E0A33E"/>
          </a:solidFill>
          <a:ln w="12700">
            <a:solidFill>
              <a:srgbClr val="E0A33E"/>
            </a:solidFill>
            <a:prstDash val="solid"/>
          </a:ln>
        </p:spPr>
      </p:sp>
      <p:sp>
        <p:nvSpPr>
          <p:cNvPr id="18" name="Text 16"/>
          <p:cNvSpPr/>
          <p:nvPr/>
        </p:nvSpPr>
        <p:spPr>
          <a:xfrm>
            <a:off x="749808" y="2615184"/>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1</a:t>
            </a:r>
            <a:endParaRPr lang="en-US" sz="1200" dirty="0"/>
          </a:p>
        </p:txBody>
      </p:sp>
      <p:sp>
        <p:nvSpPr>
          <p:cNvPr id="19" name="Text 17"/>
          <p:cNvSpPr/>
          <p:nvPr/>
        </p:nvSpPr>
        <p:spPr>
          <a:xfrm>
            <a:off x="1152144" y="2615184"/>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Nâng chất lượng phản hồi</a:t>
            </a:r>
            <a:endParaRPr lang="en-US" sz="1200" dirty="0"/>
          </a:p>
        </p:txBody>
      </p:sp>
      <p:sp>
        <p:nvSpPr>
          <p:cNvPr id="20" name="Text 18"/>
          <p:cNvSpPr/>
          <p:nvPr/>
        </p:nvSpPr>
        <p:spPr>
          <a:xfrm>
            <a:off x="786384" y="2980944"/>
            <a:ext cx="3108960" cy="1124712"/>
          </a:xfrm>
          <a:prstGeom prst="rect">
            <a:avLst/>
          </a:prstGeom>
          <a:noFill/>
          <a:ln/>
        </p:spPr>
        <p:txBody>
          <a:bodyPr wrap="square" lIns="0" tIns="0" rIns="0" bIns="0" rtlCol="0" anchor="ctr"/>
          <a:lstStyle/>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lead-07 và lead-09 sai should_research (vendor/recruiter ở biên) → thêm fixture cho đúng vùng biên đó</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TRIAGE_PROMPT_EXTRA để thêm house rule mà không thay prompt gốc</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Pull một model instruct thật (qwen3:8b) thay model coder-tuned, so sánh bằng --reprocess trên cùng bộ mail</a:t>
            </a:r>
            <a:endParaRPr lang="en-US" sz="930" dirty="0"/>
          </a:p>
        </p:txBody>
      </p:sp>
      <p:sp>
        <p:nvSpPr>
          <p:cNvPr id="21" name="Shape 19"/>
          <p:cNvSpPr/>
          <p:nvPr/>
        </p:nvSpPr>
        <p:spPr>
          <a:xfrm>
            <a:off x="4343400" y="2450592"/>
            <a:ext cx="3566160" cy="1783080"/>
          </a:xfrm>
          <a:prstGeom prst="roundRect">
            <a:avLst>
              <a:gd name="adj" fmla="val 307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22" name="Shape 20"/>
          <p:cNvSpPr/>
          <p:nvPr/>
        </p:nvSpPr>
        <p:spPr>
          <a:xfrm>
            <a:off x="4544568" y="2615184"/>
            <a:ext cx="310896" cy="310896"/>
          </a:xfrm>
          <a:prstGeom prst="ellipse">
            <a:avLst/>
          </a:prstGeom>
          <a:solidFill>
            <a:srgbClr val="2E7D8F"/>
          </a:solidFill>
          <a:ln w="12700">
            <a:solidFill>
              <a:srgbClr val="2E7D8F"/>
            </a:solidFill>
            <a:prstDash val="solid"/>
          </a:ln>
        </p:spPr>
      </p:sp>
      <p:sp>
        <p:nvSpPr>
          <p:cNvPr id="23" name="Text 21"/>
          <p:cNvSpPr/>
          <p:nvPr/>
        </p:nvSpPr>
        <p:spPr>
          <a:xfrm>
            <a:off x="4544568" y="2615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4946904" y="2615184"/>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Tối ưu tốc độ</a:t>
            </a:r>
            <a:endParaRPr lang="en-US" sz="1200" dirty="0"/>
          </a:p>
        </p:txBody>
      </p:sp>
      <p:sp>
        <p:nvSpPr>
          <p:cNvPr id="25" name="Text 23"/>
          <p:cNvSpPr/>
          <p:nvPr/>
        </p:nvSpPr>
        <p:spPr>
          <a:xfrm>
            <a:off x="4581144" y="2980944"/>
            <a:ext cx="3108960" cy="1124712"/>
          </a:xfrm>
          <a:prstGeom prst="rect">
            <a:avLst/>
          </a:prstGeom>
          <a:noFill/>
          <a:ln/>
        </p:spPr>
        <p:txBody>
          <a:bodyPr wrap="square" lIns="0" tIns="0" rIns="0" bIns="0" rtlCol="0" anchor="ctr"/>
          <a:lstStyle/>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Song song hoá research (hiện tuần tự) — speedup gần tuyến tính, nhưng làm burst API cost tăng theo: đây là quyết định chi phí, không chỉ là kỹ thuật</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Hạ default xuống effort low + 3 search, chỉ nâng khi profile trả về mỏng</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Prompt caching cho system prompt của triage</a:t>
            </a:r>
            <a:endParaRPr lang="en-US" sz="930" dirty="0"/>
          </a:p>
        </p:txBody>
      </p:sp>
      <p:sp>
        <p:nvSpPr>
          <p:cNvPr id="26" name="Shape 24"/>
          <p:cNvSpPr/>
          <p:nvPr/>
        </p:nvSpPr>
        <p:spPr>
          <a:xfrm>
            <a:off x="8138160" y="2450592"/>
            <a:ext cx="3566160" cy="1783080"/>
          </a:xfrm>
          <a:prstGeom prst="roundRect">
            <a:avLst>
              <a:gd name="adj" fmla="val 307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27" name="Shape 25"/>
          <p:cNvSpPr/>
          <p:nvPr/>
        </p:nvSpPr>
        <p:spPr>
          <a:xfrm>
            <a:off x="8339328" y="2615184"/>
            <a:ext cx="310896" cy="310896"/>
          </a:xfrm>
          <a:prstGeom prst="ellipse">
            <a:avLst/>
          </a:prstGeom>
          <a:solidFill>
            <a:srgbClr val="E0A33E"/>
          </a:solidFill>
          <a:ln w="12700">
            <a:solidFill>
              <a:srgbClr val="E0A33E"/>
            </a:solidFill>
            <a:prstDash val="solid"/>
          </a:ln>
        </p:spPr>
      </p:sp>
      <p:sp>
        <p:nvSpPr>
          <p:cNvPr id="28" name="Text 26"/>
          <p:cNvSpPr/>
          <p:nvPr/>
        </p:nvSpPr>
        <p:spPr>
          <a:xfrm>
            <a:off x="8339328" y="2615184"/>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8741664" y="2615184"/>
            <a:ext cx="276148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Mở rộng tool</a:t>
            </a:r>
            <a:endParaRPr lang="en-US" sz="1200" dirty="0"/>
          </a:p>
        </p:txBody>
      </p:sp>
      <p:sp>
        <p:nvSpPr>
          <p:cNvPr id="30" name="Text 28"/>
          <p:cNvSpPr/>
          <p:nvPr/>
        </p:nvSpPr>
        <p:spPr>
          <a:xfrm>
            <a:off x="8375904" y="2980944"/>
            <a:ext cx="3108960" cy="1124712"/>
          </a:xfrm>
          <a:prstGeom prst="rect">
            <a:avLst/>
          </a:prstGeom>
          <a:noFill/>
          <a:ln/>
        </p:spPr>
        <p:txBody>
          <a:bodyPr wrap="square" lIns="0" tIns="0" rIns="0" bIns="0" rtlCol="0" anchor="ctr"/>
          <a:lstStyle/>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Provider dữ liệu công ty thứ hai (registry doanh nghiệp) để đối chiếu chéo claim</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Tool enrich_contact và ghi ngược sang CRM — cần scope mới, tức là cần một dòng trong .env chứ không phải một câu trong prompt</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Phơi bộ tool ra MCP khi có host thứ hai</a:t>
            </a:r>
            <a:endParaRPr lang="en-US" sz="930" dirty="0"/>
          </a:p>
        </p:txBody>
      </p:sp>
      <p:sp>
        <p:nvSpPr>
          <p:cNvPr id="31" name="Shape 29"/>
          <p:cNvSpPr/>
          <p:nvPr/>
        </p:nvSpPr>
        <p:spPr>
          <a:xfrm>
            <a:off x="548640" y="4370832"/>
            <a:ext cx="5440680" cy="1783080"/>
          </a:xfrm>
          <a:prstGeom prst="roundRect">
            <a:avLst>
              <a:gd name="adj" fmla="val 307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32" name="Shape 30"/>
          <p:cNvSpPr/>
          <p:nvPr/>
        </p:nvSpPr>
        <p:spPr>
          <a:xfrm>
            <a:off x="749808" y="4535424"/>
            <a:ext cx="310896" cy="310896"/>
          </a:xfrm>
          <a:prstGeom prst="ellipse">
            <a:avLst/>
          </a:prstGeom>
          <a:solidFill>
            <a:srgbClr val="2E7D8F"/>
          </a:solidFill>
          <a:ln w="12700">
            <a:solidFill>
              <a:srgbClr val="2E7D8F"/>
            </a:solidFill>
            <a:prstDash val="solid"/>
          </a:ln>
        </p:spPr>
      </p:sp>
      <p:sp>
        <p:nvSpPr>
          <p:cNvPr id="33" name="Text 31"/>
          <p:cNvSpPr/>
          <p:nvPr/>
        </p:nvSpPr>
        <p:spPr>
          <a:xfrm>
            <a:off x="749808" y="4535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2"/>
          <p:cNvSpPr/>
          <p:nvPr/>
        </p:nvSpPr>
        <p:spPr>
          <a:xfrm>
            <a:off x="1152144" y="4535424"/>
            <a:ext cx="463600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Cải thiện memory</a:t>
            </a:r>
            <a:endParaRPr lang="en-US" sz="1200" dirty="0"/>
          </a:p>
        </p:txBody>
      </p:sp>
      <p:sp>
        <p:nvSpPr>
          <p:cNvPr id="35" name="Text 33"/>
          <p:cNvSpPr/>
          <p:nvPr/>
        </p:nvSpPr>
        <p:spPr>
          <a:xfrm>
            <a:off x="786384" y="4901184"/>
            <a:ext cx="4983480" cy="1124712"/>
          </a:xfrm>
          <a:prstGeom prst="rect">
            <a:avLst/>
          </a:prstGeom>
          <a:noFill/>
          <a:ln/>
        </p:spPr>
        <p:txBody>
          <a:bodyPr wrap="square" lIns="0" tIns="0" rIns="0" bIns="0" rtlCol="0" anchor="ctr"/>
          <a:lstStyle/>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Hiện chưa có semantic recall. Chỉ khi kho brief đủ lớn để cần hỏi “công ty này giống case nào đã gặp” thì embeddings + vector index mới trả lại giá trị — đó là ngưỡng để bật, không phải mặc định.</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Bật retention window bằng purge_older_than() thay vì giữ vô hạn</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Ghi lại nhãn người duyệt sửa tay → nguồn few-shot cho triage; nhưng một cú click duyệt không phải bằng chứng claim đúng, nên không được tự động thăng vào research cache</a:t>
            </a:r>
            <a:endParaRPr lang="en-US" sz="930" dirty="0"/>
          </a:p>
        </p:txBody>
      </p:sp>
      <p:sp>
        <p:nvSpPr>
          <p:cNvPr id="36" name="Shape 34"/>
          <p:cNvSpPr/>
          <p:nvPr/>
        </p:nvSpPr>
        <p:spPr>
          <a:xfrm>
            <a:off x="6199632" y="4370832"/>
            <a:ext cx="5440680" cy="1783080"/>
          </a:xfrm>
          <a:prstGeom prst="roundRect">
            <a:avLst>
              <a:gd name="adj" fmla="val 3077"/>
            </a:avLst>
          </a:prstGeom>
          <a:solidFill>
            <a:srgbClr val="FFFFFF"/>
          </a:solidFill>
          <a:ln w="12700">
            <a:solidFill>
              <a:srgbClr val="D6DEEA"/>
            </a:solidFill>
            <a:prstDash val="solid"/>
          </a:ln>
          <a:effectLst>
            <a:outerShdw sx="100000" sy="100000" kx="0" ky="0" algn="bl" rotWithShape="0" blurRad="76200" dist="12700" dir="5400000">
              <a:srgbClr val="8FA0B8">
                <a:alpha val="25000"/>
              </a:srgbClr>
            </a:outerShdw>
          </a:effectLst>
        </p:spPr>
      </p:sp>
      <p:sp>
        <p:nvSpPr>
          <p:cNvPr id="37" name="Shape 35"/>
          <p:cNvSpPr/>
          <p:nvPr/>
        </p:nvSpPr>
        <p:spPr>
          <a:xfrm>
            <a:off x="6400800" y="4535424"/>
            <a:ext cx="310896" cy="310896"/>
          </a:xfrm>
          <a:prstGeom prst="ellipse">
            <a:avLst/>
          </a:prstGeom>
          <a:solidFill>
            <a:srgbClr val="E0A33E"/>
          </a:solidFill>
          <a:ln w="12700">
            <a:solidFill>
              <a:srgbClr val="E0A33E"/>
            </a:solidFill>
            <a:prstDash val="solid"/>
          </a:ln>
        </p:spPr>
      </p:sp>
      <p:sp>
        <p:nvSpPr>
          <p:cNvPr id="38" name="Text 36"/>
          <p:cNvSpPr/>
          <p:nvPr/>
        </p:nvSpPr>
        <p:spPr>
          <a:xfrm>
            <a:off x="6400800" y="4535424"/>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5</a:t>
            </a:r>
            <a:endParaRPr lang="en-US" sz="1200" dirty="0"/>
          </a:p>
        </p:txBody>
      </p:sp>
      <p:sp>
        <p:nvSpPr>
          <p:cNvPr id="39" name="Text 37"/>
          <p:cNvSpPr/>
          <p:nvPr/>
        </p:nvSpPr>
        <p:spPr>
          <a:xfrm>
            <a:off x="6803136" y="4535424"/>
            <a:ext cx="4636008" cy="310896"/>
          </a:xfrm>
          <a:prstGeom prst="rect">
            <a:avLst/>
          </a:prstGeom>
          <a:noFill/>
          <a:ln/>
        </p:spPr>
        <p:txBody>
          <a:bodyPr wrap="square" lIns="0" tIns="0" rIns="0" bIns="0" rtlCol="0" anchor="ctr"/>
          <a:lstStyle/>
          <a:p>
            <a:pPr indent="0" marL="0">
              <a:buNone/>
            </a:pPr>
            <a:r>
              <a:rPr lang="en-US" sz="1200" b="1" dirty="0">
                <a:solidFill>
                  <a:srgbClr val="16263A"/>
                </a:solidFill>
                <a:latin typeface="Calibri" pitchFamily="34" charset="0"/>
                <a:ea typeface="Calibri" pitchFamily="34" charset="-122"/>
                <a:cs typeface="Calibri" pitchFamily="34" charset="-120"/>
              </a:rPr>
              <a:t>Đánh giá &amp; kiểm thử</a:t>
            </a:r>
            <a:endParaRPr lang="en-US" sz="1200" dirty="0"/>
          </a:p>
        </p:txBody>
      </p:sp>
      <p:sp>
        <p:nvSpPr>
          <p:cNvPr id="40" name="Text 38"/>
          <p:cNvSpPr/>
          <p:nvPr/>
        </p:nvSpPr>
        <p:spPr>
          <a:xfrm>
            <a:off x="6437376" y="4901184"/>
            <a:ext cx="4983480" cy="1124712"/>
          </a:xfrm>
          <a:prstGeom prst="rect">
            <a:avLst/>
          </a:prstGeom>
          <a:noFill/>
          <a:ln/>
        </p:spPr>
        <p:txBody>
          <a:bodyPr wrap="square" lIns="0" tIns="0" rIns="0" bIns="0" rtlCol="0" anchor="ctr"/>
          <a:lstStyle/>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Eval hiện chỉ chấm triage — cần fixture cho research và brief (đặc biệt: claim không nguồn có bị đếm đúng vào unknowns không)</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Chế độ replay không đo được model drift → cần lịch --record định kỳ</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Giữ nguyên chấm nhị phân theo từng field kèm mẫu số; điểm 1-10 từ model judge trông chính xác nhưng chấm hai lần ra hai số</a:t>
            </a:r>
            <a:endParaRPr lang="en-US" sz="930" dirty="0"/>
          </a:p>
          <a:p>
            <a:pPr marL="152400" indent="-152400">
              <a:spcAft>
                <a:spcPts val="400"/>
              </a:spcAft>
              <a:buSzPct val="100000"/>
              <a:buChar char="•"/>
            </a:pPr>
            <a:r>
              <a:rPr lang="en-US" sz="930" dirty="0">
                <a:solidFill>
                  <a:srgbClr val="3C4C60"/>
                </a:solidFill>
                <a:latin typeface="Calibri" pitchFamily="34" charset="0"/>
                <a:ea typeface="Calibri" pitchFamily="34" charset="-122"/>
                <a:cs typeface="Calibri" pitchFamily="34" charset="-120"/>
              </a:rPr>
              <a:t>111 test function trong 6 file + harness eval, tất cả chạy offline ~0.01s</a:t>
            </a:r>
            <a:endParaRPr lang="en-US" sz="9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548640" y="384048"/>
            <a:ext cx="68580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Bài học kinh nghiệm</a:t>
            </a:r>
            <a:endParaRPr lang="en-US" sz="3200" dirty="0"/>
          </a:p>
        </p:txBody>
      </p:sp>
      <p:sp>
        <p:nvSpPr>
          <p:cNvPr id="3" name="Text 1"/>
          <p:cNvSpPr/>
          <p:nvPr/>
        </p:nvSpPr>
        <p:spPr>
          <a:xfrm>
            <a:off x="548640" y="914400"/>
            <a:ext cx="6858000" cy="274320"/>
          </a:xfrm>
          <a:prstGeom prst="rect">
            <a:avLst/>
          </a:prstGeom>
          <a:noFill/>
          <a:ln/>
        </p:spPr>
        <p:txBody>
          <a:bodyPr wrap="square" lIns="0" tIns="0" rIns="0" bIns="0" rtlCol="0" anchor="ctr"/>
          <a:lstStyle/>
          <a:p>
            <a:pPr indent="0" marL="0">
              <a:buNone/>
            </a:pPr>
            <a:r>
              <a:rPr lang="en-US" sz="1200" i="1" dirty="0">
                <a:solidFill>
                  <a:srgbClr val="E0A33E"/>
                </a:solidFill>
                <a:latin typeface="Calibri" pitchFamily="34" charset="0"/>
                <a:ea typeface="Calibri" pitchFamily="34" charset="-122"/>
                <a:cs typeface="Calibri" pitchFamily="34" charset="-120"/>
              </a:rPr>
              <a:t>sáu thứ tôi sẽ mang sang hệ thống agent kế tiếp</a:t>
            </a:r>
            <a:endParaRPr lang="en-US" sz="1200" dirty="0"/>
          </a:p>
        </p:txBody>
      </p:sp>
      <p:sp>
        <p:nvSpPr>
          <p:cNvPr id="4" name="Shape 2"/>
          <p:cNvSpPr/>
          <p:nvPr/>
        </p:nvSpPr>
        <p:spPr>
          <a:xfrm>
            <a:off x="548640" y="1298448"/>
            <a:ext cx="310896" cy="310896"/>
          </a:xfrm>
          <a:prstGeom prst="ellipse">
            <a:avLst/>
          </a:prstGeom>
          <a:solidFill>
            <a:srgbClr val="E0A33E"/>
          </a:solidFill>
          <a:ln w="12700">
            <a:solidFill>
              <a:srgbClr val="E0A33E"/>
            </a:solidFill>
            <a:prstDash val="solid"/>
          </a:ln>
        </p:spPr>
      </p:sp>
      <p:sp>
        <p:nvSpPr>
          <p:cNvPr id="5" name="Text 3"/>
          <p:cNvSpPr/>
          <p:nvPr/>
        </p:nvSpPr>
        <p:spPr>
          <a:xfrm>
            <a:off x="548640" y="1298448"/>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969264" y="1298448"/>
            <a:ext cx="630936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Gate thắng prompt</a:t>
            </a:r>
            <a:endParaRPr lang="en-US" sz="1200" dirty="0"/>
          </a:p>
        </p:txBody>
      </p:sp>
      <p:sp>
        <p:nvSpPr>
          <p:cNvPr id="7" name="Text 5"/>
          <p:cNvSpPr/>
          <p:nvPr/>
        </p:nvSpPr>
        <p:spPr>
          <a:xfrm>
            <a:off x="969264" y="1536192"/>
            <a:ext cx="6309360" cy="438912"/>
          </a:xfrm>
          <a:prstGeom prst="rect">
            <a:avLst/>
          </a:prstGeom>
          <a:noFill/>
          <a:ln/>
        </p:spPr>
        <p:txBody>
          <a:bodyPr wrap="square" lIns="0" tIns="0" rIns="0" bIns="0" rtlCol="0" anchor="ctr"/>
          <a:lstStyle/>
          <a:p>
            <a:pPr indent="0" marL="0">
              <a:lnSpc>
                <a:spcPct val="100000"/>
              </a:lnSpc>
              <a:buNone/>
            </a:pPr>
            <a:r>
              <a:rPr lang="en-US" sz="930" dirty="0">
                <a:solidFill>
                  <a:srgbClr val="B3C5DB"/>
                </a:solidFill>
                <a:latin typeface="Calibri" pitchFamily="34" charset="0"/>
                <a:ea typeface="Calibri" pitchFamily="34" charset="-122"/>
                <a:cs typeface="Calibri" pitchFamily="34" charset="-120"/>
              </a:rPr>
              <a:t>Một bộ lọc trong prompt là control mức model, và control mức model thua tấn công mức model. Scope đến từ .env và không bao giờ nằm trong context — model không có gì để cãi.</a:t>
            </a:r>
            <a:endParaRPr lang="en-US" sz="930" dirty="0"/>
          </a:p>
        </p:txBody>
      </p:sp>
      <p:sp>
        <p:nvSpPr>
          <p:cNvPr id="8" name="Shape 6"/>
          <p:cNvSpPr/>
          <p:nvPr/>
        </p:nvSpPr>
        <p:spPr>
          <a:xfrm>
            <a:off x="548640" y="2002536"/>
            <a:ext cx="310896" cy="310896"/>
          </a:xfrm>
          <a:prstGeom prst="ellipse">
            <a:avLst/>
          </a:prstGeom>
          <a:solidFill>
            <a:srgbClr val="E0A33E"/>
          </a:solidFill>
          <a:ln w="12700">
            <a:solidFill>
              <a:srgbClr val="E0A33E"/>
            </a:solidFill>
            <a:prstDash val="solid"/>
          </a:ln>
        </p:spPr>
      </p:sp>
      <p:sp>
        <p:nvSpPr>
          <p:cNvPr id="9" name="Text 7"/>
          <p:cNvSpPr/>
          <p:nvPr/>
        </p:nvSpPr>
        <p:spPr>
          <a:xfrm>
            <a:off x="548640" y="2002536"/>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69264" y="2002536"/>
            <a:ext cx="630936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Đừng để model làm việc mà code làm được</a:t>
            </a:r>
            <a:endParaRPr lang="en-US" sz="1200" dirty="0"/>
          </a:p>
        </p:txBody>
      </p:sp>
      <p:sp>
        <p:nvSpPr>
          <p:cNvPr id="11" name="Text 9"/>
          <p:cNvSpPr/>
          <p:nvPr/>
        </p:nvSpPr>
        <p:spPr>
          <a:xfrm>
            <a:off x="969264" y="2240280"/>
            <a:ext cx="6309360" cy="438912"/>
          </a:xfrm>
          <a:prstGeom prst="rect">
            <a:avLst/>
          </a:prstGeom>
          <a:noFill/>
          <a:ln/>
        </p:spPr>
        <p:txBody>
          <a:bodyPr wrap="square" lIns="0" tIns="0" rIns="0" bIns="0" rtlCol="0" anchor="ctr"/>
          <a:lstStyle/>
          <a:p>
            <a:pPr indent="0" marL="0">
              <a:lnSpc>
                <a:spcPct val="100000"/>
              </a:lnSpc>
              <a:buNone/>
            </a:pPr>
            <a:r>
              <a:rPr lang="en-US" sz="930" dirty="0">
                <a:solidFill>
                  <a:srgbClr val="B3C5DB"/>
                </a:solidFill>
                <a:latin typeface="Calibri" pitchFamily="34" charset="0"/>
                <a:ea typeface="Calibri" pitchFamily="34" charset="-122"/>
                <a:cs typeface="Calibri" pitchFamily="34" charset="-120"/>
              </a:rPr>
              <a:t>Bỏ hẳn LLM khỏi bước sinh brief: bớt một cơ hội bịa, và đổi lại được một bước test offline.</a:t>
            </a:r>
            <a:endParaRPr lang="en-US" sz="930" dirty="0"/>
          </a:p>
        </p:txBody>
      </p:sp>
      <p:sp>
        <p:nvSpPr>
          <p:cNvPr id="12" name="Shape 10"/>
          <p:cNvSpPr/>
          <p:nvPr/>
        </p:nvSpPr>
        <p:spPr>
          <a:xfrm>
            <a:off x="548640" y="2706624"/>
            <a:ext cx="310896" cy="310896"/>
          </a:xfrm>
          <a:prstGeom prst="ellipse">
            <a:avLst/>
          </a:prstGeom>
          <a:solidFill>
            <a:srgbClr val="E0A33E"/>
          </a:solidFill>
          <a:ln w="12700">
            <a:solidFill>
              <a:srgbClr val="E0A33E"/>
            </a:solidFill>
            <a:prstDash val="solid"/>
          </a:ln>
        </p:spPr>
      </p:sp>
      <p:sp>
        <p:nvSpPr>
          <p:cNvPr id="13" name="Text 11"/>
          <p:cNvSpPr/>
          <p:nvPr/>
        </p:nvSpPr>
        <p:spPr>
          <a:xfrm>
            <a:off x="548640" y="2706624"/>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9264" y="2706624"/>
            <a:ext cx="630936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Rẻ trước, đắt sau</a:t>
            </a:r>
            <a:endParaRPr lang="en-US" sz="1200" dirty="0"/>
          </a:p>
        </p:txBody>
      </p:sp>
      <p:sp>
        <p:nvSpPr>
          <p:cNvPr id="15" name="Text 13"/>
          <p:cNvSpPr/>
          <p:nvPr/>
        </p:nvSpPr>
        <p:spPr>
          <a:xfrm>
            <a:off x="969264" y="2944368"/>
            <a:ext cx="6309360" cy="438912"/>
          </a:xfrm>
          <a:prstGeom prst="rect">
            <a:avLst/>
          </a:prstGeom>
          <a:noFill/>
          <a:ln/>
        </p:spPr>
        <p:txBody>
          <a:bodyPr wrap="square" lIns="0" tIns="0" rIns="0" bIns="0" rtlCol="0" anchor="ctr"/>
          <a:lstStyle/>
          <a:p>
            <a:pPr indent="0" marL="0">
              <a:lnSpc>
                <a:spcPct val="100000"/>
              </a:lnSpc>
              <a:buNone/>
            </a:pPr>
            <a:r>
              <a:rPr lang="en-US" sz="930" dirty="0">
                <a:solidFill>
                  <a:srgbClr val="B3C5DB"/>
                </a:solidFill>
                <a:latin typeface="Calibri" pitchFamily="34" charset="0"/>
                <a:ea typeface="Calibri" pitchFamily="34" charset="-122"/>
                <a:cs typeface="Calibri" pitchFamily="34" charset="-120"/>
              </a:rPr>
              <a:t>Bộ lọc quyết định chặn phần lớn mail trước khi model chạy. Tối ưu lớn nhất không nằm trong prompt.</a:t>
            </a:r>
            <a:endParaRPr lang="en-US" sz="930" dirty="0"/>
          </a:p>
        </p:txBody>
      </p:sp>
      <p:sp>
        <p:nvSpPr>
          <p:cNvPr id="16" name="Shape 14"/>
          <p:cNvSpPr/>
          <p:nvPr/>
        </p:nvSpPr>
        <p:spPr>
          <a:xfrm>
            <a:off x="548640" y="3410712"/>
            <a:ext cx="310896" cy="310896"/>
          </a:xfrm>
          <a:prstGeom prst="ellipse">
            <a:avLst/>
          </a:prstGeom>
          <a:solidFill>
            <a:srgbClr val="E0A33E"/>
          </a:solidFill>
          <a:ln w="12700">
            <a:solidFill>
              <a:srgbClr val="E0A33E"/>
            </a:solidFill>
            <a:prstDash val="solid"/>
          </a:ln>
        </p:spPr>
      </p:sp>
      <p:sp>
        <p:nvSpPr>
          <p:cNvPr id="17" name="Text 15"/>
          <p:cNvSpPr/>
          <p:nvPr/>
        </p:nvSpPr>
        <p:spPr>
          <a:xfrm>
            <a:off x="548640" y="3410712"/>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969264" y="3410712"/>
            <a:ext cx="630936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“Không biết” phải là câu trả lời hạng nhất</a:t>
            </a:r>
            <a:endParaRPr lang="en-US" sz="1200" dirty="0"/>
          </a:p>
        </p:txBody>
      </p:sp>
      <p:sp>
        <p:nvSpPr>
          <p:cNvPr id="19" name="Text 17"/>
          <p:cNvSpPr/>
          <p:nvPr/>
        </p:nvSpPr>
        <p:spPr>
          <a:xfrm>
            <a:off x="969264" y="3648456"/>
            <a:ext cx="6309360" cy="438912"/>
          </a:xfrm>
          <a:prstGeom prst="rect">
            <a:avLst/>
          </a:prstGeom>
          <a:noFill/>
          <a:ln/>
        </p:spPr>
        <p:txBody>
          <a:bodyPr wrap="square" lIns="0" tIns="0" rIns="0" bIns="0" rtlCol="0" anchor="ctr"/>
          <a:lstStyle/>
          <a:p>
            <a:pPr indent="0" marL="0">
              <a:lnSpc>
                <a:spcPct val="100000"/>
              </a:lnSpc>
              <a:buNone/>
            </a:pPr>
            <a:r>
              <a:rPr lang="en-US" sz="930" dirty="0">
                <a:solidFill>
                  <a:srgbClr val="B3C5DB"/>
                </a:solidFill>
                <a:latin typeface="Calibri" pitchFamily="34" charset="0"/>
                <a:ea typeface="Calibri" pitchFamily="34" charset="-122"/>
                <a:cs typeface="Calibri" pitchFamily="34" charset="-120"/>
              </a:rPr>
              <a:t>unknown confidence thấp, calendar unchecked, field rỗng được gọi tên — thay vì điền cho đẹp.</a:t>
            </a:r>
            <a:endParaRPr lang="en-US" sz="930" dirty="0"/>
          </a:p>
        </p:txBody>
      </p:sp>
      <p:sp>
        <p:nvSpPr>
          <p:cNvPr id="20" name="Shape 18"/>
          <p:cNvSpPr/>
          <p:nvPr/>
        </p:nvSpPr>
        <p:spPr>
          <a:xfrm>
            <a:off x="548640" y="4114800"/>
            <a:ext cx="310896" cy="310896"/>
          </a:xfrm>
          <a:prstGeom prst="ellipse">
            <a:avLst/>
          </a:prstGeom>
          <a:solidFill>
            <a:srgbClr val="E0A33E"/>
          </a:solidFill>
          <a:ln w="12700">
            <a:solidFill>
              <a:srgbClr val="E0A33E"/>
            </a:solidFill>
            <a:prstDash val="solid"/>
          </a:ln>
        </p:spPr>
      </p:sp>
      <p:sp>
        <p:nvSpPr>
          <p:cNvPr id="21" name="Text 19"/>
          <p:cNvSpPr/>
          <p:nvPr/>
        </p:nvSpPr>
        <p:spPr>
          <a:xfrm>
            <a:off x="548640" y="4114800"/>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969264" y="4114800"/>
            <a:ext cx="630936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Đo, đừng đoán</a:t>
            </a:r>
            <a:endParaRPr lang="en-US" sz="1200" dirty="0"/>
          </a:p>
        </p:txBody>
      </p:sp>
      <p:sp>
        <p:nvSpPr>
          <p:cNvPr id="23" name="Text 21"/>
          <p:cNvSpPr/>
          <p:nvPr/>
        </p:nvSpPr>
        <p:spPr>
          <a:xfrm>
            <a:off x="969264" y="4352544"/>
            <a:ext cx="6309360" cy="438912"/>
          </a:xfrm>
          <a:prstGeom prst="rect">
            <a:avLst/>
          </a:prstGeom>
          <a:noFill/>
          <a:ln/>
        </p:spPr>
        <p:txBody>
          <a:bodyPr wrap="square" lIns="0" tIns="0" rIns="0" bIns="0" rtlCol="0" anchor="ctr"/>
          <a:lstStyle/>
          <a:p>
            <a:pPr indent="0" marL="0">
              <a:lnSpc>
                <a:spcPct val="100000"/>
              </a:lnSpc>
              <a:buNone/>
            </a:pPr>
            <a:r>
              <a:rPr lang="en-US" sz="930" dirty="0">
                <a:solidFill>
                  <a:srgbClr val="B3C5DB"/>
                </a:solidFill>
                <a:latin typeface="Calibri" pitchFamily="34" charset="0"/>
                <a:ea typeface="Calibri" pitchFamily="34" charset="-122"/>
                <a:cs typeface="Calibri" pitchFamily="34" charset="-120"/>
              </a:rPr>
              <a:t>331s so với 79s biến một cuộc tranh luận thiết kế thành một dòng config.</a:t>
            </a:r>
            <a:endParaRPr lang="en-US" sz="930" dirty="0"/>
          </a:p>
        </p:txBody>
      </p:sp>
      <p:sp>
        <p:nvSpPr>
          <p:cNvPr id="24" name="Shape 22"/>
          <p:cNvSpPr/>
          <p:nvPr/>
        </p:nvSpPr>
        <p:spPr>
          <a:xfrm>
            <a:off x="548640" y="4818888"/>
            <a:ext cx="310896" cy="310896"/>
          </a:xfrm>
          <a:prstGeom prst="ellipse">
            <a:avLst/>
          </a:prstGeom>
          <a:solidFill>
            <a:srgbClr val="E0A33E"/>
          </a:solidFill>
          <a:ln w="12700">
            <a:solidFill>
              <a:srgbClr val="E0A33E"/>
            </a:solidFill>
            <a:prstDash val="solid"/>
          </a:ln>
        </p:spPr>
      </p:sp>
      <p:sp>
        <p:nvSpPr>
          <p:cNvPr id="25" name="Text 23"/>
          <p:cNvSpPr/>
          <p:nvPr/>
        </p:nvSpPr>
        <p:spPr>
          <a:xfrm>
            <a:off x="548640" y="4818888"/>
            <a:ext cx="310896" cy="310896"/>
          </a:xfrm>
          <a:prstGeom prst="rect">
            <a:avLst/>
          </a:prstGeom>
          <a:noFill/>
          <a:ln/>
        </p:spPr>
        <p:txBody>
          <a:bodyPr wrap="square" lIns="0" tIns="0" rIns="0" bIns="0" rtlCol="0" anchor="ctr"/>
          <a:lstStyle/>
          <a:p>
            <a:pPr algn="ctr" indent="0" marL="0">
              <a:buNone/>
            </a:pPr>
            <a:r>
              <a:rPr lang="en-US" sz="1200" b="1" dirty="0">
                <a:solidFill>
                  <a:srgbClr val="0F1E33"/>
                </a:solidFill>
                <a:latin typeface="Calibri" pitchFamily="34" charset="0"/>
                <a:ea typeface="Calibri" pitchFamily="34" charset="-122"/>
                <a:cs typeface="Calibri" pitchFamily="34" charset="-120"/>
              </a:rPr>
              <a:t>6</a:t>
            </a:r>
            <a:endParaRPr lang="en-US" sz="1200" dirty="0"/>
          </a:p>
        </p:txBody>
      </p:sp>
      <p:sp>
        <p:nvSpPr>
          <p:cNvPr id="26" name="Text 24"/>
          <p:cNvSpPr/>
          <p:nvPr/>
        </p:nvSpPr>
        <p:spPr>
          <a:xfrm>
            <a:off x="969264" y="4818888"/>
            <a:ext cx="630936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Eval nhị phân, có mẫu số</a:t>
            </a:r>
            <a:endParaRPr lang="en-US" sz="1200" dirty="0"/>
          </a:p>
        </p:txBody>
      </p:sp>
      <p:sp>
        <p:nvSpPr>
          <p:cNvPr id="27" name="Text 25"/>
          <p:cNvSpPr/>
          <p:nvPr/>
        </p:nvSpPr>
        <p:spPr>
          <a:xfrm>
            <a:off x="969264" y="5056632"/>
            <a:ext cx="6309360" cy="438912"/>
          </a:xfrm>
          <a:prstGeom prst="rect">
            <a:avLst/>
          </a:prstGeom>
          <a:noFill/>
          <a:ln/>
        </p:spPr>
        <p:txBody>
          <a:bodyPr wrap="square" lIns="0" tIns="0" rIns="0" bIns="0" rtlCol="0" anchor="ctr"/>
          <a:lstStyle/>
          <a:p>
            <a:pPr indent="0" marL="0">
              <a:lnSpc>
                <a:spcPct val="100000"/>
              </a:lnSpc>
              <a:buNone/>
            </a:pPr>
            <a:r>
              <a:rPr lang="en-US" sz="930" dirty="0">
                <a:solidFill>
                  <a:srgbClr val="B3C5DB"/>
                </a:solidFill>
                <a:latin typeface="Calibri" pitchFamily="34" charset="0"/>
                <a:ea typeface="Calibri" pitchFamily="34" charset="-122"/>
                <a:cs typeface="Calibri" pitchFamily="34" charset="-120"/>
              </a:rPr>
              <a:t>“Đoán đúng domain chưa — có hay không” là câu hỏi có đáp án. Điểm 1-10 từ model judge thì không.</a:t>
            </a:r>
            <a:endParaRPr lang="en-US" sz="930" dirty="0"/>
          </a:p>
        </p:txBody>
      </p:sp>
      <p:sp>
        <p:nvSpPr>
          <p:cNvPr id="28" name="Shape 26"/>
          <p:cNvSpPr/>
          <p:nvPr/>
        </p:nvSpPr>
        <p:spPr>
          <a:xfrm>
            <a:off x="7680960" y="1298448"/>
            <a:ext cx="3959352" cy="4233672"/>
          </a:xfrm>
          <a:prstGeom prst="roundRect">
            <a:avLst>
              <a:gd name="adj" fmla="val 1386"/>
            </a:avLst>
          </a:prstGeom>
          <a:solidFill>
            <a:srgbClr val="1B3252"/>
          </a:solidFill>
          <a:ln w="12700">
            <a:solidFill>
              <a:srgbClr val="1B3252"/>
            </a:solidFill>
            <a:prstDash val="solid"/>
          </a:ln>
        </p:spPr>
      </p:sp>
      <p:sp>
        <p:nvSpPr>
          <p:cNvPr id="29" name="Text 27"/>
          <p:cNvSpPr/>
          <p:nvPr/>
        </p:nvSpPr>
        <p:spPr>
          <a:xfrm>
            <a:off x="7936992" y="1481328"/>
            <a:ext cx="3474720" cy="274320"/>
          </a:xfrm>
          <a:prstGeom prst="rect">
            <a:avLst/>
          </a:prstGeom>
          <a:noFill/>
          <a:ln/>
        </p:spPr>
        <p:txBody>
          <a:bodyPr wrap="square" lIns="0" tIns="0" rIns="0" bIns="0" rtlCol="0" anchor="ctr"/>
          <a:lstStyle/>
          <a:p>
            <a:pPr indent="0" marL="0">
              <a:buNone/>
            </a:pPr>
            <a:r>
              <a:rPr lang="en-US" sz="1100" b="1" dirty="0">
                <a:solidFill>
                  <a:srgbClr val="2E7D8F"/>
                </a:solidFill>
                <a:latin typeface="Calibri" pitchFamily="34" charset="0"/>
                <a:ea typeface="Calibri" pitchFamily="34" charset="-122"/>
                <a:cs typeface="Calibri" pitchFamily="34" charset="-120"/>
              </a:rPr>
              <a:t>HƯỚNG PHÁT TRIỂN TIẾP THEO</a:t>
            </a:r>
            <a:endParaRPr lang="en-US" sz="1100" dirty="0"/>
          </a:p>
        </p:txBody>
      </p:sp>
      <p:sp>
        <p:nvSpPr>
          <p:cNvPr id="30" name="Text 28"/>
          <p:cNvSpPr/>
          <p:nvPr/>
        </p:nvSpPr>
        <p:spPr>
          <a:xfrm>
            <a:off x="7936992" y="1883664"/>
            <a:ext cx="3474720" cy="3474720"/>
          </a:xfrm>
          <a:prstGeom prst="rect">
            <a:avLst/>
          </a:prstGeom>
          <a:noFill/>
          <a:ln/>
        </p:spPr>
        <p:txBody>
          <a:bodyPr wrap="square" lIns="0" tIns="0" rIns="0" bIns="0" rtlCol="0" anchor="ctr"/>
          <a:lstStyle/>
          <a:p>
            <a:pPr marL="152400" indent="-152400">
              <a:spcAft>
                <a:spcPts val="1300"/>
              </a:spcAft>
              <a:buSzPct val="100000"/>
              <a:buChar char="•"/>
            </a:pPr>
            <a:r>
              <a:rPr lang="en-US" sz="1050" dirty="0">
                <a:solidFill>
                  <a:srgbClr val="FFFFFF"/>
                </a:solidFill>
                <a:latin typeface="Calibri" pitchFamily="34" charset="0"/>
                <a:ea typeface="Calibri" pitchFamily="34" charset="-122"/>
                <a:cs typeface="Calibri" pitchFamily="34" charset="-120"/>
              </a:rPr>
              <a:t>Đưa triage về chạy local cho đạt — mục tiêu riêng tư đã nêu vẫn chưa đạt chừng nào body mail còn rời khỏi máy</a:t>
            </a:r>
            <a:endParaRPr lang="en-US" sz="1050" dirty="0"/>
          </a:p>
          <a:p>
            <a:pPr marL="152400" indent="-152400">
              <a:spcAft>
                <a:spcPts val="1300"/>
              </a:spcAft>
              <a:buSzPct val="100000"/>
              <a:buChar char="•"/>
            </a:pPr>
            <a:r>
              <a:rPr lang="en-US" sz="1050" dirty="0">
                <a:solidFill>
                  <a:srgbClr val="FFFFFF"/>
                </a:solidFill>
                <a:latin typeface="Calibri" pitchFamily="34" charset="0"/>
                <a:ea typeface="Calibri" pitchFamily="34" charset="-122"/>
                <a:cs typeface="Calibri" pitchFamily="34" charset="-120"/>
              </a:rPr>
              <a:t>Song song hoá research: speedup lớn nhất còn lại</a:t>
            </a:r>
            <a:endParaRPr lang="en-US" sz="1050" dirty="0"/>
          </a:p>
          <a:p>
            <a:pPr marL="152400" indent="-152400">
              <a:spcAft>
                <a:spcPts val="1300"/>
              </a:spcAft>
              <a:buSzPct val="100000"/>
              <a:buChar char="•"/>
            </a:pPr>
            <a:r>
              <a:rPr lang="en-US" sz="1050" dirty="0">
                <a:solidFill>
                  <a:srgbClr val="FFFFFF"/>
                </a:solidFill>
                <a:latin typeface="Calibri" pitchFamily="34" charset="0"/>
                <a:ea typeface="Calibri" pitchFamily="34" charset="-122"/>
                <a:cs typeface="Calibri" pitchFamily="34" charset="-120"/>
              </a:rPr>
              <a:t>Multi-mailbox nhiều người dùng — state đã scope theo user_id, phần còn thiếu là UI và quota</a:t>
            </a:r>
            <a:endParaRPr lang="en-US" sz="1050" dirty="0"/>
          </a:p>
          <a:p>
            <a:pPr marL="152400" indent="-152400">
              <a:spcAft>
                <a:spcPts val="1300"/>
              </a:spcAft>
              <a:buSzPct val="100000"/>
              <a:buChar char="•"/>
            </a:pPr>
            <a:r>
              <a:rPr lang="en-US" sz="1050" dirty="0">
                <a:solidFill>
                  <a:srgbClr val="FFFFFF"/>
                </a:solidFill>
                <a:latin typeface="Calibri" pitchFamily="34" charset="0"/>
                <a:ea typeface="Calibri" pitchFamily="34" charset="-122"/>
                <a:cs typeface="Calibri" pitchFamily="34" charset="-120"/>
              </a:rPr>
              <a:t>Bật gửi brief thật: cần một account riêng, một scope riêng, và vẫn phải qua gate — duyệt không phải là quyền gửi</a:t>
            </a:r>
            <a:endParaRPr lang="en-US" sz="1050" dirty="0"/>
          </a:p>
          <a:p>
            <a:pPr marL="152400" indent="-152400">
              <a:spcAft>
                <a:spcPts val="1300"/>
              </a:spcAft>
              <a:buSzPct val="100000"/>
              <a:buChar char="•"/>
            </a:pPr>
            <a:r>
              <a:rPr lang="en-US" sz="1050" dirty="0">
                <a:solidFill>
                  <a:srgbClr val="FFFFFF"/>
                </a:solidFill>
                <a:latin typeface="Calibri" pitchFamily="34" charset="0"/>
                <a:ea typeface="Calibri" pitchFamily="34" charset="-122"/>
                <a:cs typeface="Calibri" pitchFamily="34" charset="-120"/>
              </a:rPr>
              <a:t>Agent chủ động đề xuất hành động (soạn nháp trả lời) — nhưng vẫn đứng sau đúng gate đó</a:t>
            </a:r>
            <a:endParaRPr lang="en-US" sz="1050" dirty="0"/>
          </a:p>
        </p:txBody>
      </p:sp>
      <p:sp>
        <p:nvSpPr>
          <p:cNvPr id="31" name="Shape 29"/>
          <p:cNvSpPr/>
          <p:nvPr/>
        </p:nvSpPr>
        <p:spPr>
          <a:xfrm>
            <a:off x="548640" y="5614416"/>
            <a:ext cx="11091672" cy="749808"/>
          </a:xfrm>
          <a:prstGeom prst="roundRect">
            <a:avLst>
              <a:gd name="adj" fmla="val 7317"/>
            </a:avLst>
          </a:prstGeom>
          <a:solidFill>
            <a:srgbClr val="24406A"/>
          </a:solidFill>
          <a:ln w="12700">
            <a:solidFill>
              <a:srgbClr val="E0A33E"/>
            </a:solidFill>
            <a:prstDash val="solid"/>
          </a:ln>
        </p:spPr>
      </p:sp>
      <p:sp>
        <p:nvSpPr>
          <p:cNvPr id="32" name="Text 30"/>
          <p:cNvSpPr/>
          <p:nvPr/>
        </p:nvSpPr>
        <p:spPr>
          <a:xfrm>
            <a:off x="822960" y="5614416"/>
            <a:ext cx="10607040" cy="749808"/>
          </a:xfrm>
          <a:prstGeom prst="rect">
            <a:avLst/>
          </a:prstGeom>
          <a:noFill/>
          <a:ln/>
        </p:spPr>
        <p:txBody>
          <a:bodyPr wrap="square" lIns="0" tIns="0" rIns="0" bIns="0" rtlCol="0" anchor="ctr"/>
          <a:lstStyle/>
          <a:p>
            <a:pPr indent="0" marL="0">
              <a:buNone/>
            </a:pPr>
            <a:r>
              <a:rPr lang="en-US" sz="1200" b="1" dirty="0">
                <a:solidFill>
                  <a:srgbClr val="E0A33E"/>
                </a:solidFill>
                <a:latin typeface="Calibri" pitchFamily="34" charset="0"/>
                <a:ea typeface="Calibri" pitchFamily="34" charset="-122"/>
                <a:cs typeface="Calibri" pitchFamily="34" charset="-120"/>
              </a:rPr>
              <a:t>Điều đáng giữ nhất: </a:t>
            </a:r>
            <a:pPr indent="0" marL="0">
              <a:buNone/>
            </a:pPr>
            <a:r>
              <a:rPr lang="en-US" sz="1200" dirty="0">
                <a:solidFill>
                  <a:srgbClr val="FFFFFF"/>
                </a:solidFill>
                <a:latin typeface="Calibri" pitchFamily="34" charset="0"/>
                <a:ea typeface="Calibri" pitchFamily="34" charset="-122"/>
                <a:cs typeface="Calibri" pitchFamily="34" charset="-120"/>
              </a:rPr>
              <a:t>một agent đọc nội dung không đáng tin mà lại có quyền gửi từ chính hộp thư đó thì không phải là trợ lý — nó là một mail relay có model chọn người nhận. Toàn bộ thiết kế này chỉ là hệ quả của việc từ chối tình huống đó.</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 Web Research Multi-Agent</dc:title>
  <dc:subject>PptxGenJS Presentation</dc:subject>
  <dc:creator>Christopher Le</dc:creator>
  <cp:lastModifiedBy>Christopher Le</cp:lastModifiedBy>
  <cp:revision>1</cp:revision>
  <dcterms:created xsi:type="dcterms:W3CDTF">2026-08-23T14:15:27Z</dcterms:created>
  <dcterms:modified xsi:type="dcterms:W3CDTF">2026-08-23T14:15:27Z</dcterms:modified>
</cp:coreProperties>
</file>